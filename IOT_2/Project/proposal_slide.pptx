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Muli" panose="020B0604020202020204" charset="0"/>
      <p:regular r:id="rId36"/>
    </p:embeddedFont>
    <p:embeddedFont>
      <p:font typeface="Muli Bold" panose="020B0604020202020204" charset="0"/>
      <p:regular r:id="rId37"/>
    </p:embeddedFont>
    <p:embeddedFont>
      <p:font typeface="Noto Sans" panose="020B0502040504020204" pitchFamily="34" charset="0"/>
      <p:regular r:id="rId38"/>
    </p:embeddedFont>
    <p:embeddedFont>
      <p:font typeface="Noto Sans Bold" panose="020B0802040504020204" charset="0"/>
      <p:regular r:id="rId39"/>
    </p:embeddedFont>
    <p:embeddedFont>
      <p:font typeface="Noto Sans Bold Italics" panose="020B0604020202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1914" y="7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LIÊN HOA" userId="d4832b69-14b4-4210-9d56-4189daa207fe" providerId="ADAL" clId="{DAC1F465-618C-45D8-9CE0-E848272A6B98}"/>
    <pc:docChg chg="modSld">
      <pc:chgData name="LÝ LIÊN HOA" userId="d4832b69-14b4-4210-9d56-4189daa207fe" providerId="ADAL" clId="{DAC1F465-618C-45D8-9CE0-E848272A6B98}" dt="2024-11-22T16:48:57.915" v="12" actId="14100"/>
      <pc:docMkLst>
        <pc:docMk/>
      </pc:docMkLst>
      <pc:sldChg chg="modSp mod">
        <pc:chgData name="LÝ LIÊN HOA" userId="d4832b69-14b4-4210-9d56-4189daa207fe" providerId="ADAL" clId="{DAC1F465-618C-45D8-9CE0-E848272A6B98}" dt="2024-11-22T16:26:32.468" v="3" actId="120"/>
        <pc:sldMkLst>
          <pc:docMk/>
          <pc:sldMk cId="0" sldId="259"/>
        </pc:sldMkLst>
        <pc:spChg chg="mod">
          <ac:chgData name="LÝ LIÊN HOA" userId="d4832b69-14b4-4210-9d56-4189daa207fe" providerId="ADAL" clId="{DAC1F465-618C-45D8-9CE0-E848272A6B98}" dt="2024-11-22T16:26:32.468" v="3" actId="120"/>
          <ac:spMkLst>
            <pc:docMk/>
            <pc:sldMk cId="0" sldId="259"/>
            <ac:spMk id="15" creationId="{00000000-0000-0000-0000-000000000000}"/>
          </ac:spMkLst>
        </pc:spChg>
      </pc:sldChg>
      <pc:sldChg chg="modSp mod">
        <pc:chgData name="LÝ LIÊN HOA" userId="d4832b69-14b4-4210-9d56-4189daa207fe" providerId="ADAL" clId="{DAC1F465-618C-45D8-9CE0-E848272A6B98}" dt="2024-11-22T16:26:46.310" v="5" actId="14100"/>
        <pc:sldMkLst>
          <pc:docMk/>
          <pc:sldMk cId="0" sldId="260"/>
        </pc:sldMkLst>
        <pc:spChg chg="mod">
          <ac:chgData name="LÝ LIÊN HOA" userId="d4832b69-14b4-4210-9d56-4189daa207fe" providerId="ADAL" clId="{DAC1F465-618C-45D8-9CE0-E848272A6B98}" dt="2024-11-22T16:26:46.310" v="5" actId="14100"/>
          <ac:spMkLst>
            <pc:docMk/>
            <pc:sldMk cId="0" sldId="260"/>
            <ac:spMk id="10" creationId="{00000000-0000-0000-0000-000000000000}"/>
          </ac:spMkLst>
        </pc:spChg>
        <pc:spChg chg="mod">
          <ac:chgData name="LÝ LIÊN HOA" userId="d4832b69-14b4-4210-9d56-4189daa207fe" providerId="ADAL" clId="{DAC1F465-618C-45D8-9CE0-E848272A6B98}" dt="2024-11-22T16:26:37.125" v="4" actId="120"/>
          <ac:spMkLst>
            <pc:docMk/>
            <pc:sldMk cId="0" sldId="260"/>
            <ac:spMk id="13" creationId="{00000000-0000-0000-0000-000000000000}"/>
          </ac:spMkLst>
        </pc:spChg>
      </pc:sldChg>
      <pc:sldChg chg="modSp mod">
        <pc:chgData name="LÝ LIÊN HOA" userId="d4832b69-14b4-4210-9d56-4189daa207fe" providerId="ADAL" clId="{DAC1F465-618C-45D8-9CE0-E848272A6B98}" dt="2024-11-22T16:26:54.902" v="6" actId="120"/>
        <pc:sldMkLst>
          <pc:docMk/>
          <pc:sldMk cId="0" sldId="261"/>
        </pc:sldMkLst>
        <pc:spChg chg="mod">
          <ac:chgData name="LÝ LIÊN HOA" userId="d4832b69-14b4-4210-9d56-4189daa207fe" providerId="ADAL" clId="{DAC1F465-618C-45D8-9CE0-E848272A6B98}" dt="2024-11-22T16:26:54.902" v="6" actId="120"/>
          <ac:spMkLst>
            <pc:docMk/>
            <pc:sldMk cId="0" sldId="261"/>
            <ac:spMk id="6" creationId="{00000000-0000-0000-0000-000000000000}"/>
          </ac:spMkLst>
        </pc:spChg>
      </pc:sldChg>
      <pc:sldChg chg="modSp mod">
        <pc:chgData name="LÝ LIÊN HOA" userId="d4832b69-14b4-4210-9d56-4189daa207fe" providerId="ADAL" clId="{DAC1F465-618C-45D8-9CE0-E848272A6B98}" dt="2024-11-22T16:26:25.960" v="2" actId="120"/>
        <pc:sldMkLst>
          <pc:docMk/>
          <pc:sldMk cId="0" sldId="262"/>
        </pc:sldMkLst>
        <pc:spChg chg="mod">
          <ac:chgData name="LÝ LIÊN HOA" userId="d4832b69-14b4-4210-9d56-4189daa207fe" providerId="ADAL" clId="{DAC1F465-618C-45D8-9CE0-E848272A6B98}" dt="2024-11-22T16:26:25.960" v="2" actId="120"/>
          <ac:spMkLst>
            <pc:docMk/>
            <pc:sldMk cId="0" sldId="262"/>
            <ac:spMk id="12" creationId="{00000000-0000-0000-0000-000000000000}"/>
          </ac:spMkLst>
        </pc:spChg>
      </pc:sldChg>
      <pc:sldChg chg="modSp mod">
        <pc:chgData name="LÝ LIÊN HOA" userId="d4832b69-14b4-4210-9d56-4189daa207fe" providerId="ADAL" clId="{DAC1F465-618C-45D8-9CE0-E848272A6B98}" dt="2024-11-22T16:27:01.921" v="7" actId="120"/>
        <pc:sldMkLst>
          <pc:docMk/>
          <pc:sldMk cId="0" sldId="263"/>
        </pc:sldMkLst>
        <pc:spChg chg="mod">
          <ac:chgData name="LÝ LIÊN HOA" userId="d4832b69-14b4-4210-9d56-4189daa207fe" providerId="ADAL" clId="{DAC1F465-618C-45D8-9CE0-E848272A6B98}" dt="2024-11-22T16:27:01.921" v="7" actId="120"/>
          <ac:spMkLst>
            <pc:docMk/>
            <pc:sldMk cId="0" sldId="263"/>
            <ac:spMk id="14" creationId="{00000000-0000-0000-0000-000000000000}"/>
          </ac:spMkLst>
        </pc:spChg>
      </pc:sldChg>
      <pc:sldChg chg="modSp mod">
        <pc:chgData name="LÝ LIÊN HOA" userId="d4832b69-14b4-4210-9d56-4189daa207fe" providerId="ADAL" clId="{DAC1F465-618C-45D8-9CE0-E848272A6B98}" dt="2024-11-22T16:48:57.915" v="12" actId="14100"/>
        <pc:sldMkLst>
          <pc:docMk/>
          <pc:sldMk cId="0" sldId="288"/>
        </pc:sldMkLst>
        <pc:spChg chg="mod">
          <ac:chgData name="LÝ LIÊN HOA" userId="d4832b69-14b4-4210-9d56-4189daa207fe" providerId="ADAL" clId="{DAC1F465-618C-45D8-9CE0-E848272A6B98}" dt="2024-11-22T16:48:57.915" v="12" actId="14100"/>
          <ac:spMkLst>
            <pc:docMk/>
            <pc:sldMk cId="0" sldId="288"/>
            <ac:spMk id="15" creationId="{00000000-0000-0000-0000-000000000000}"/>
          </ac:spMkLst>
        </pc:spChg>
        <pc:spChg chg="mod">
          <ac:chgData name="LÝ LIÊN HOA" userId="d4832b69-14b4-4210-9d56-4189daa207fe" providerId="ADAL" clId="{DAC1F465-618C-45D8-9CE0-E848272A6B98}" dt="2024-11-22T16:48:54.873" v="11" actId="14100"/>
          <ac:spMkLst>
            <pc:docMk/>
            <pc:sldMk cId="0" sldId="288"/>
            <ac:spMk id="2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gif"/><Relationship Id="rId5" Type="http://schemas.openxmlformats.org/officeDocument/2006/relationships/image" Target="../media/image27.sv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685890" y="3666185"/>
            <a:ext cx="11437054" cy="2954630"/>
            <a:chOff x="0" y="0"/>
            <a:chExt cx="15249406" cy="3939507"/>
          </a:xfrm>
        </p:grpSpPr>
        <p:sp>
          <p:nvSpPr>
            <p:cNvPr id="3" name="TextBox 3"/>
            <p:cNvSpPr txBox="1"/>
            <p:nvPr/>
          </p:nvSpPr>
          <p:spPr>
            <a:xfrm>
              <a:off x="0" y="172720"/>
              <a:ext cx="15249406" cy="2105660"/>
            </a:xfrm>
            <a:prstGeom prst="rect">
              <a:avLst/>
            </a:prstGeom>
          </p:spPr>
          <p:txBody>
            <a:bodyPr lIns="0" tIns="0" rIns="0" bIns="0" rtlCol="0" anchor="t">
              <a:spAutoFit/>
            </a:bodyPr>
            <a:lstStyle/>
            <a:p>
              <a:pPr algn="l">
                <a:lnSpc>
                  <a:spcPts val="13229"/>
                </a:lnSpc>
              </a:pPr>
              <a:r>
                <a:rPr lang="en-US" sz="9449" b="1" spc="-103">
                  <a:solidFill>
                    <a:srgbClr val="000000"/>
                  </a:solidFill>
                  <a:latin typeface="Muli Bold"/>
                  <a:ea typeface="Muli Bold"/>
                  <a:cs typeface="Muli Bold"/>
                  <a:sym typeface="Muli Bold"/>
                </a:rPr>
                <a:t>Báo Cáo Dự Án</a:t>
              </a:r>
            </a:p>
          </p:txBody>
        </p:sp>
        <p:sp>
          <p:nvSpPr>
            <p:cNvPr id="4" name="TextBox 4"/>
            <p:cNvSpPr txBox="1"/>
            <p:nvPr/>
          </p:nvSpPr>
          <p:spPr>
            <a:xfrm>
              <a:off x="0" y="2961606"/>
              <a:ext cx="15249406" cy="977901"/>
            </a:xfrm>
            <a:prstGeom prst="rect">
              <a:avLst/>
            </a:prstGeom>
          </p:spPr>
          <p:txBody>
            <a:bodyPr lIns="0" tIns="0" rIns="0" bIns="0" rtlCol="0" anchor="t">
              <a:spAutoFit/>
            </a:bodyPr>
            <a:lstStyle/>
            <a:p>
              <a:pPr algn="l">
                <a:lnSpc>
                  <a:spcPts val="6299"/>
                </a:lnSpc>
              </a:pPr>
              <a:r>
                <a:rPr lang="en-US" sz="4499" b="1" u="sng">
                  <a:solidFill>
                    <a:srgbClr val="004651"/>
                  </a:solidFill>
                  <a:latin typeface="Muli Bold"/>
                  <a:ea typeface="Muli Bold"/>
                  <a:cs typeface="Muli Bold"/>
                  <a:sym typeface="Muli Bold"/>
                </a:rPr>
                <a:t>Sản phẩm</a:t>
              </a:r>
              <a:r>
                <a:rPr lang="en-US" sz="4499" b="1">
                  <a:solidFill>
                    <a:srgbClr val="004651"/>
                  </a:solidFill>
                  <a:latin typeface="Muli Bold"/>
                  <a:ea typeface="Muli Bold"/>
                  <a:cs typeface="Muli Bold"/>
                  <a:sym typeface="Muli Bold"/>
                </a:rPr>
                <a:t>: Thiết Bị Tưới Nước Tự Động</a:t>
              </a:r>
            </a:p>
          </p:txBody>
        </p:sp>
      </p:grpSp>
      <p:grpSp>
        <p:nvGrpSpPr>
          <p:cNvPr id="5" name="Group 5"/>
          <p:cNvGrpSpPr/>
          <p:nvPr/>
        </p:nvGrpSpPr>
        <p:grpSpPr>
          <a:xfrm>
            <a:off x="14328902" y="2317173"/>
            <a:ext cx="7321033" cy="6340049"/>
            <a:chOff x="0" y="0"/>
            <a:chExt cx="3619627" cy="3134614"/>
          </a:xfrm>
        </p:grpSpPr>
        <p:sp>
          <p:nvSpPr>
            <p:cNvPr id="6" name="Freeform 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7" name="Group 7"/>
          <p:cNvGrpSpPr/>
          <p:nvPr/>
        </p:nvGrpSpPr>
        <p:grpSpPr>
          <a:xfrm>
            <a:off x="12122944" y="7035126"/>
            <a:ext cx="4970154" cy="4304177"/>
            <a:chOff x="0" y="0"/>
            <a:chExt cx="3619627" cy="3134614"/>
          </a:xfrm>
        </p:grpSpPr>
        <p:sp>
          <p:nvSpPr>
            <p:cNvPr id="8" name="Freeform 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9" name="Group 9"/>
          <p:cNvGrpSpPr/>
          <p:nvPr/>
        </p:nvGrpSpPr>
        <p:grpSpPr>
          <a:xfrm>
            <a:off x="12336342" y="5954842"/>
            <a:ext cx="2271679" cy="1967285"/>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1" name="Group 11"/>
          <p:cNvGrpSpPr/>
          <p:nvPr/>
        </p:nvGrpSpPr>
        <p:grpSpPr>
          <a:xfrm>
            <a:off x="13737770" y="373605"/>
            <a:ext cx="3799619" cy="3290488"/>
            <a:chOff x="0" y="0"/>
            <a:chExt cx="3619627" cy="3134614"/>
          </a:xfrm>
        </p:grpSpPr>
        <p:sp>
          <p:nvSpPr>
            <p:cNvPr id="12" name="Freeform 12"/>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13" name="Group 13"/>
          <p:cNvGrpSpPr/>
          <p:nvPr/>
        </p:nvGrpSpPr>
        <p:grpSpPr>
          <a:xfrm>
            <a:off x="1028700" y="1028700"/>
            <a:ext cx="4212844" cy="586200"/>
            <a:chOff x="0" y="0"/>
            <a:chExt cx="5617125" cy="781600"/>
          </a:xfrm>
        </p:grpSpPr>
        <p:sp>
          <p:nvSpPr>
            <p:cNvPr id="14" name="TextBox 14"/>
            <p:cNvSpPr txBox="1"/>
            <p:nvPr/>
          </p:nvSpPr>
          <p:spPr>
            <a:xfrm>
              <a:off x="1293956" y="104415"/>
              <a:ext cx="4323169" cy="525145"/>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Muli Bold"/>
                  <a:ea typeface="Muli Bold"/>
                  <a:cs typeface="Muli Bold"/>
                  <a:sym typeface="Muli Bold"/>
                </a:rPr>
                <a:t>NHÓM 6</a:t>
              </a:r>
            </a:p>
          </p:txBody>
        </p:sp>
        <p:sp>
          <p:nvSpPr>
            <p:cNvPr id="15" name="Freeform 15"/>
            <p:cNvSpPr/>
            <p:nvPr/>
          </p:nvSpPr>
          <p:spPr>
            <a:xfrm>
              <a:off x="0" y="0"/>
              <a:ext cx="905010" cy="781600"/>
            </a:xfrm>
            <a:custGeom>
              <a:avLst/>
              <a:gdLst/>
              <a:ahLst/>
              <a:cxnLst/>
              <a:rect l="l" t="t" r="r" b="b"/>
              <a:pathLst>
                <a:path w="905010" h="781600">
                  <a:moveTo>
                    <a:pt x="0" y="0"/>
                  </a:moveTo>
                  <a:lnTo>
                    <a:pt x="905010" y="0"/>
                  </a:lnTo>
                  <a:lnTo>
                    <a:pt x="905010" y="781600"/>
                  </a:lnTo>
                  <a:lnTo>
                    <a:pt x="0" y="781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grpSp>
        <p:nvGrpSpPr>
          <p:cNvPr id="2" name="Group 2"/>
          <p:cNvGrpSpPr/>
          <p:nvPr/>
        </p:nvGrpSpPr>
        <p:grpSpPr>
          <a:xfrm>
            <a:off x="-2527743" y="-89986"/>
            <a:ext cx="10138115" cy="8779655"/>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4" name="Group 4"/>
          <p:cNvGrpSpPr/>
          <p:nvPr/>
        </p:nvGrpSpPr>
        <p:grpSpPr>
          <a:xfrm>
            <a:off x="2541314" y="6105953"/>
            <a:ext cx="5966980" cy="5167433"/>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6" name="TextBox 6"/>
          <p:cNvSpPr txBox="1"/>
          <p:nvPr/>
        </p:nvSpPr>
        <p:spPr>
          <a:xfrm>
            <a:off x="351862" y="4250412"/>
            <a:ext cx="6133234" cy="847725"/>
          </a:xfrm>
          <a:prstGeom prst="rect">
            <a:avLst/>
          </a:prstGeom>
        </p:spPr>
        <p:txBody>
          <a:bodyPr lIns="0" tIns="0" rIns="0" bIns="0" rtlCol="0" anchor="t">
            <a:spAutoFit/>
          </a:bodyPr>
          <a:lstStyle/>
          <a:p>
            <a:pPr marL="0" lvl="0" indent="0" algn="l">
              <a:lnSpc>
                <a:spcPts val="6659"/>
              </a:lnSpc>
              <a:spcBef>
                <a:spcPct val="0"/>
              </a:spcBef>
            </a:pPr>
            <a:r>
              <a:rPr lang="en-US" sz="5549" b="1" spc="-205">
                <a:solidFill>
                  <a:srgbClr val="F4F4F4"/>
                </a:solidFill>
                <a:latin typeface="Muli Bold"/>
                <a:ea typeface="Muli Bold"/>
                <a:cs typeface="Muli Bold"/>
                <a:sym typeface="Muli Bold"/>
              </a:rPr>
              <a:t>NỘI DUNG CHÍNH</a:t>
            </a:r>
          </a:p>
        </p:txBody>
      </p:sp>
      <p:sp>
        <p:nvSpPr>
          <p:cNvPr id="7" name="TextBox 7"/>
          <p:cNvSpPr txBox="1"/>
          <p:nvPr/>
        </p:nvSpPr>
        <p:spPr>
          <a:xfrm>
            <a:off x="9144000" y="2223606"/>
            <a:ext cx="8377883" cy="688305"/>
          </a:xfrm>
          <a:prstGeom prst="rect">
            <a:avLst/>
          </a:prstGeom>
        </p:spPr>
        <p:txBody>
          <a:bodyPr lIns="0" tIns="0" rIns="0" bIns="0" rtlCol="0" anchor="t">
            <a:spAutoFit/>
          </a:bodyPr>
          <a:lstStyle/>
          <a:p>
            <a:pPr marL="869298" lvl="1" indent="-434649" algn="l">
              <a:lnSpc>
                <a:spcPts val="5636"/>
              </a:lnSpc>
              <a:buFont typeface="Arial"/>
              <a:buChar char="•"/>
            </a:pPr>
            <a:r>
              <a:rPr lang="en-US" sz="4026" b="1">
                <a:solidFill>
                  <a:srgbClr val="F4F4F4"/>
                </a:solidFill>
                <a:latin typeface="Muli Bold"/>
                <a:ea typeface="Muli Bold"/>
                <a:cs typeface="Muli Bold"/>
                <a:sym typeface="Muli Bold"/>
              </a:rPr>
              <a:t>Giới thiệu</a:t>
            </a:r>
          </a:p>
        </p:txBody>
      </p:sp>
      <p:sp>
        <p:nvSpPr>
          <p:cNvPr id="8" name="TextBox 8"/>
          <p:cNvSpPr txBox="1"/>
          <p:nvPr/>
        </p:nvSpPr>
        <p:spPr>
          <a:xfrm>
            <a:off x="9144000" y="3107169"/>
            <a:ext cx="8377883" cy="688305"/>
          </a:xfrm>
          <a:prstGeom prst="rect">
            <a:avLst/>
          </a:prstGeom>
        </p:spPr>
        <p:txBody>
          <a:bodyPr lIns="0" tIns="0" rIns="0" bIns="0" rtlCol="0" anchor="t">
            <a:spAutoFit/>
          </a:bodyPr>
          <a:lstStyle/>
          <a:p>
            <a:pPr marL="869298" lvl="1" indent="-434649" algn="l">
              <a:lnSpc>
                <a:spcPts val="5636"/>
              </a:lnSpc>
              <a:buFont typeface="Arial"/>
              <a:buChar char="•"/>
            </a:pPr>
            <a:r>
              <a:rPr lang="en-US" sz="4026" b="1">
                <a:solidFill>
                  <a:srgbClr val="F4F4F4"/>
                </a:solidFill>
                <a:latin typeface="Muli Bold"/>
                <a:ea typeface="Muli Bold"/>
                <a:cs typeface="Muli Bold"/>
                <a:sym typeface="Muli Bold"/>
              </a:rPr>
              <a:t>Chức năng sản phẩm</a:t>
            </a:r>
          </a:p>
        </p:txBody>
      </p:sp>
      <p:sp>
        <p:nvSpPr>
          <p:cNvPr id="9" name="TextBox 9"/>
          <p:cNvSpPr txBox="1"/>
          <p:nvPr/>
        </p:nvSpPr>
        <p:spPr>
          <a:xfrm>
            <a:off x="9144000" y="3990732"/>
            <a:ext cx="8377883" cy="688305"/>
          </a:xfrm>
          <a:prstGeom prst="rect">
            <a:avLst/>
          </a:prstGeom>
        </p:spPr>
        <p:txBody>
          <a:bodyPr lIns="0" tIns="0" rIns="0" bIns="0" rtlCol="0" anchor="t">
            <a:spAutoFit/>
          </a:bodyPr>
          <a:lstStyle/>
          <a:p>
            <a:pPr marL="869298" lvl="1" indent="-434649" algn="l">
              <a:lnSpc>
                <a:spcPts val="5636"/>
              </a:lnSpc>
              <a:buFont typeface="Arial"/>
              <a:buChar char="•"/>
            </a:pPr>
            <a:r>
              <a:rPr lang="en-US" sz="4026" b="1">
                <a:solidFill>
                  <a:srgbClr val="F4F4F4"/>
                </a:solidFill>
                <a:latin typeface="Muli Bold"/>
                <a:ea typeface="Muli Bold"/>
                <a:cs typeface="Muli Bold"/>
                <a:sym typeface="Muli Bold"/>
              </a:rPr>
              <a:t>Phần thiết kế</a:t>
            </a:r>
          </a:p>
        </p:txBody>
      </p:sp>
      <p:sp>
        <p:nvSpPr>
          <p:cNvPr id="10" name="TextBox 10"/>
          <p:cNvSpPr txBox="1"/>
          <p:nvPr/>
        </p:nvSpPr>
        <p:spPr>
          <a:xfrm>
            <a:off x="9144000" y="4874295"/>
            <a:ext cx="8377883" cy="688305"/>
          </a:xfrm>
          <a:prstGeom prst="rect">
            <a:avLst/>
          </a:prstGeom>
        </p:spPr>
        <p:txBody>
          <a:bodyPr lIns="0" tIns="0" rIns="0" bIns="0" rtlCol="0" anchor="t">
            <a:spAutoFit/>
          </a:bodyPr>
          <a:lstStyle/>
          <a:p>
            <a:pPr marL="869298" lvl="1" indent="-434649" algn="l">
              <a:lnSpc>
                <a:spcPts val="5636"/>
              </a:lnSpc>
              <a:buFont typeface="Arial"/>
              <a:buChar char="•"/>
            </a:pPr>
            <a:r>
              <a:rPr lang="en-US" sz="4026" b="1">
                <a:solidFill>
                  <a:srgbClr val="F4F4F4"/>
                </a:solidFill>
                <a:latin typeface="Muli Bold"/>
                <a:ea typeface="Muli Bold"/>
                <a:cs typeface="Muli Bold"/>
                <a:sym typeface="Muli Bold"/>
              </a:rPr>
              <a:t>Danh sách các thiết bị</a:t>
            </a:r>
          </a:p>
        </p:txBody>
      </p:sp>
      <p:sp>
        <p:nvSpPr>
          <p:cNvPr id="11" name="TextBox 11"/>
          <p:cNvSpPr txBox="1"/>
          <p:nvPr/>
        </p:nvSpPr>
        <p:spPr>
          <a:xfrm>
            <a:off x="9144000" y="5757858"/>
            <a:ext cx="8377883" cy="688305"/>
          </a:xfrm>
          <a:prstGeom prst="rect">
            <a:avLst/>
          </a:prstGeom>
        </p:spPr>
        <p:txBody>
          <a:bodyPr lIns="0" tIns="0" rIns="0" bIns="0" rtlCol="0" anchor="t">
            <a:spAutoFit/>
          </a:bodyPr>
          <a:lstStyle/>
          <a:p>
            <a:pPr marL="869298" lvl="1" indent="-434649" algn="l">
              <a:lnSpc>
                <a:spcPts val="5636"/>
              </a:lnSpc>
              <a:buFont typeface="Arial"/>
              <a:buChar char="•"/>
            </a:pPr>
            <a:r>
              <a:rPr lang="en-US" sz="4026" b="1">
                <a:solidFill>
                  <a:srgbClr val="F4F4F4"/>
                </a:solidFill>
                <a:latin typeface="Muli Bold"/>
                <a:ea typeface="Muli Bold"/>
                <a:cs typeface="Muli Bold"/>
                <a:sym typeface="Muli Bold"/>
              </a:rPr>
              <a:t>Bảng phân công công việc</a:t>
            </a:r>
          </a:p>
        </p:txBody>
      </p:sp>
      <p:sp>
        <p:nvSpPr>
          <p:cNvPr id="12" name="TextBox 12"/>
          <p:cNvSpPr txBox="1"/>
          <p:nvPr/>
        </p:nvSpPr>
        <p:spPr>
          <a:xfrm>
            <a:off x="9144000" y="6641422"/>
            <a:ext cx="8377883" cy="688305"/>
          </a:xfrm>
          <a:prstGeom prst="rect">
            <a:avLst/>
          </a:prstGeom>
        </p:spPr>
        <p:txBody>
          <a:bodyPr lIns="0" tIns="0" rIns="0" bIns="0" rtlCol="0" anchor="t">
            <a:spAutoFit/>
          </a:bodyPr>
          <a:lstStyle/>
          <a:p>
            <a:pPr marL="869298" lvl="1" indent="-434649" algn="l">
              <a:lnSpc>
                <a:spcPts val="5636"/>
              </a:lnSpc>
              <a:buFont typeface="Arial"/>
              <a:buChar char="•"/>
            </a:pPr>
            <a:r>
              <a:rPr lang="en-US" sz="4026" b="1">
                <a:solidFill>
                  <a:srgbClr val="F4F4F4"/>
                </a:solidFill>
                <a:latin typeface="Muli Bold"/>
                <a:ea typeface="Muli Bold"/>
                <a:cs typeface="Muli Bold"/>
                <a:sym typeface="Muli Bold"/>
              </a:rPr>
              <a:t>Kế hoạch thực hiện</a:t>
            </a:r>
          </a:p>
        </p:txBody>
      </p:sp>
      <p:grpSp>
        <p:nvGrpSpPr>
          <p:cNvPr id="13" name="Group 13"/>
          <p:cNvGrpSpPr/>
          <p:nvPr/>
        </p:nvGrpSpPr>
        <p:grpSpPr>
          <a:xfrm rot="-3171382">
            <a:off x="-615691" y="-682787"/>
            <a:ext cx="3288782" cy="2848101"/>
            <a:chOff x="0" y="0"/>
            <a:chExt cx="3619627" cy="3134614"/>
          </a:xfrm>
        </p:grpSpPr>
        <p:sp>
          <p:nvSpPr>
            <p:cNvPr id="14" name="Freeform 1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151770" y="4201140"/>
            <a:ext cx="7027514" cy="608586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9859850" y="563974"/>
            <a:ext cx="4961246" cy="4296462"/>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a:grpSpLocks noChangeAspect="1"/>
          </p:cNvGrpSpPr>
          <p:nvPr/>
        </p:nvGrpSpPr>
        <p:grpSpPr>
          <a:xfrm>
            <a:off x="10345997" y="2120110"/>
            <a:ext cx="7611546" cy="6591255"/>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3183" t="-2297" r="-30599" b="-4248"/>
              </a:stretch>
            </a:blipFill>
          </p:spPr>
          <p:txBody>
            <a:bodyPr/>
            <a:lstStyle/>
            <a:p>
              <a:endParaRPr lang="en-US"/>
            </a:p>
          </p:txBody>
        </p:sp>
      </p:grpSp>
      <p:grpSp>
        <p:nvGrpSpPr>
          <p:cNvPr id="8" name="Group 8"/>
          <p:cNvGrpSpPr/>
          <p:nvPr/>
        </p:nvGrpSpPr>
        <p:grpSpPr>
          <a:xfrm>
            <a:off x="1028700" y="1028700"/>
            <a:ext cx="4212844" cy="586200"/>
            <a:chOff x="0" y="0"/>
            <a:chExt cx="5617125" cy="781600"/>
          </a:xfrm>
        </p:grpSpPr>
        <p:sp>
          <p:nvSpPr>
            <p:cNvPr id="9" name="TextBox 9"/>
            <p:cNvSpPr txBox="1"/>
            <p:nvPr/>
          </p:nvSpPr>
          <p:spPr>
            <a:xfrm>
              <a:off x="1293956" y="104415"/>
              <a:ext cx="4323169" cy="525145"/>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Muli Bold"/>
                  <a:ea typeface="Muli Bold"/>
                  <a:cs typeface="Muli Bold"/>
                  <a:sym typeface="Muli Bold"/>
                </a:rPr>
                <a:t>Nhóm 6</a:t>
              </a:r>
            </a:p>
          </p:txBody>
        </p:sp>
        <p:sp>
          <p:nvSpPr>
            <p:cNvPr id="10" name="Freeform 10"/>
            <p:cNvSpPr/>
            <p:nvPr/>
          </p:nvSpPr>
          <p:spPr>
            <a:xfrm>
              <a:off x="0" y="0"/>
              <a:ext cx="905010" cy="781600"/>
            </a:xfrm>
            <a:custGeom>
              <a:avLst/>
              <a:gdLst/>
              <a:ahLst/>
              <a:cxnLst/>
              <a:rect l="l" t="t" r="r" b="b"/>
              <a:pathLst>
                <a:path w="905010" h="781600">
                  <a:moveTo>
                    <a:pt x="0" y="0"/>
                  </a:moveTo>
                  <a:lnTo>
                    <a:pt x="905010" y="0"/>
                  </a:lnTo>
                  <a:lnTo>
                    <a:pt x="905010" y="781600"/>
                  </a:lnTo>
                  <a:lnTo>
                    <a:pt x="0" y="7816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11" name="Group 11"/>
          <p:cNvGrpSpPr/>
          <p:nvPr/>
        </p:nvGrpSpPr>
        <p:grpSpPr>
          <a:xfrm>
            <a:off x="707482" y="3595482"/>
            <a:ext cx="7784689" cy="3096036"/>
            <a:chOff x="0" y="0"/>
            <a:chExt cx="10379585" cy="4128048"/>
          </a:xfrm>
        </p:grpSpPr>
        <p:sp>
          <p:nvSpPr>
            <p:cNvPr id="12" name="TextBox 12"/>
            <p:cNvSpPr txBox="1"/>
            <p:nvPr/>
          </p:nvSpPr>
          <p:spPr>
            <a:xfrm>
              <a:off x="0" y="0"/>
              <a:ext cx="10379585" cy="1968500"/>
            </a:xfrm>
            <a:prstGeom prst="rect">
              <a:avLst/>
            </a:prstGeom>
          </p:spPr>
          <p:txBody>
            <a:bodyPr lIns="0" tIns="0" rIns="0" bIns="0" rtlCol="0" anchor="t">
              <a:spAutoFit/>
            </a:bodyPr>
            <a:lstStyle/>
            <a:p>
              <a:pPr algn="l">
                <a:lnSpc>
                  <a:spcPts val="11639"/>
                </a:lnSpc>
                <a:spcBef>
                  <a:spcPct val="0"/>
                </a:spcBef>
              </a:pPr>
              <a:r>
                <a:rPr lang="en-US" sz="9699" b="1" spc="-96">
                  <a:solidFill>
                    <a:srgbClr val="000000"/>
                  </a:solidFill>
                  <a:latin typeface="Muli Bold"/>
                  <a:ea typeface="Muli Bold"/>
                  <a:cs typeface="Muli Bold"/>
                  <a:sym typeface="Muli Bold"/>
                </a:rPr>
                <a:t>GIỚI THIỆU</a:t>
              </a:r>
            </a:p>
          </p:txBody>
        </p:sp>
        <p:sp>
          <p:nvSpPr>
            <p:cNvPr id="13" name="TextBox 13"/>
            <p:cNvSpPr txBox="1"/>
            <p:nvPr/>
          </p:nvSpPr>
          <p:spPr>
            <a:xfrm>
              <a:off x="0" y="2184524"/>
              <a:ext cx="9298793" cy="1943524"/>
            </a:xfrm>
            <a:prstGeom prst="rect">
              <a:avLst/>
            </a:prstGeom>
          </p:spPr>
          <p:txBody>
            <a:bodyPr lIns="0" tIns="0" rIns="0" bIns="0" rtlCol="0" anchor="t">
              <a:spAutoFit/>
            </a:bodyPr>
            <a:lstStyle/>
            <a:p>
              <a:pPr marL="604518" lvl="1" indent="-302259" algn="l">
                <a:lnSpc>
                  <a:spcPts val="3919"/>
                </a:lnSpc>
                <a:buFont typeface="Arial"/>
                <a:buChar char="•"/>
              </a:pPr>
              <a:r>
                <a:rPr lang="en-US" sz="2799" b="1">
                  <a:solidFill>
                    <a:srgbClr val="000000"/>
                  </a:solidFill>
                  <a:latin typeface="Muli Bold"/>
                  <a:ea typeface="Muli Bold"/>
                  <a:cs typeface="Muli Bold"/>
                  <a:sym typeface="Muli Bold"/>
                </a:rPr>
                <a:t>Giới thiệu ý tưởng</a:t>
              </a:r>
            </a:p>
            <a:p>
              <a:pPr marL="604518" lvl="1" indent="-302259" algn="l">
                <a:lnSpc>
                  <a:spcPts val="3919"/>
                </a:lnSpc>
                <a:buFont typeface="Arial"/>
                <a:buChar char="•"/>
              </a:pPr>
              <a:r>
                <a:rPr lang="en-US" sz="2799" b="1">
                  <a:solidFill>
                    <a:srgbClr val="000000"/>
                  </a:solidFill>
                  <a:latin typeface="Muli Bold"/>
                  <a:ea typeface="Muli Bold"/>
                  <a:cs typeface="Muli Bold"/>
                  <a:sym typeface="Muli Bold"/>
                </a:rPr>
                <a:t>Lý do chọn ý tưởng</a:t>
              </a:r>
            </a:p>
            <a:p>
              <a:pPr marL="604518" lvl="1" indent="-302259" algn="l">
                <a:lnSpc>
                  <a:spcPts val="3919"/>
                </a:lnSpc>
                <a:buFont typeface="Arial"/>
                <a:buChar char="•"/>
              </a:pPr>
              <a:r>
                <a:rPr lang="en-US" sz="2799" b="1">
                  <a:solidFill>
                    <a:srgbClr val="000000"/>
                  </a:solidFill>
                  <a:latin typeface="Muli Bold"/>
                  <a:ea typeface="Muli Bold"/>
                  <a:cs typeface="Muli Bold"/>
                  <a:sym typeface="Muli Bold"/>
                </a:rPr>
                <a:t>Tổng quan sản phẩm</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6799111" y="2687862"/>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660090" y="-135282"/>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3243939" y="-956153"/>
            <a:ext cx="2481390" cy="21488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288697" y="907188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0" name="Group 10"/>
          <p:cNvGrpSpPr/>
          <p:nvPr/>
        </p:nvGrpSpPr>
        <p:grpSpPr>
          <a:xfrm>
            <a:off x="-2850324" y="6248743"/>
            <a:ext cx="4201515" cy="3638531"/>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pic>
        <p:nvPicPr>
          <p:cNvPr id="12" name="Picture 12"/>
          <p:cNvPicPr>
            <a:picLocks noChangeAspect="1"/>
          </p:cNvPicPr>
          <p:nvPr/>
        </p:nvPicPr>
        <p:blipFill>
          <a:blip r:embed="rId2"/>
          <a:srcRect/>
          <a:stretch>
            <a:fillRect/>
          </a:stretch>
        </p:blipFill>
        <p:spPr>
          <a:xfrm>
            <a:off x="1028700" y="7348120"/>
            <a:ext cx="3830595" cy="1723768"/>
          </a:xfrm>
          <a:prstGeom prst="rect">
            <a:avLst/>
          </a:prstGeom>
          <a:ln cap="sq">
            <a:noFill/>
            <a:prstDash val="solid"/>
          </a:ln>
        </p:spPr>
      </p:pic>
      <p:sp>
        <p:nvSpPr>
          <p:cNvPr id="13" name="TextBox 13"/>
          <p:cNvSpPr txBox="1"/>
          <p:nvPr/>
        </p:nvSpPr>
        <p:spPr>
          <a:xfrm>
            <a:off x="1464469" y="2263545"/>
            <a:ext cx="12051603" cy="4556698"/>
          </a:xfrm>
          <a:prstGeom prst="rect">
            <a:avLst/>
          </a:prstGeom>
        </p:spPr>
        <p:txBody>
          <a:bodyPr lIns="0" tIns="0" rIns="0" bIns="0" rtlCol="0" anchor="t">
            <a:spAutoFit/>
          </a:bodyPr>
          <a:lstStyle/>
          <a:p>
            <a:pPr algn="just">
              <a:lnSpc>
                <a:spcPts val="4518"/>
              </a:lnSpc>
            </a:pPr>
            <a:r>
              <a:rPr lang="en-US" sz="3227" b="1">
                <a:solidFill>
                  <a:srgbClr val="000000"/>
                </a:solidFill>
                <a:latin typeface="Noto Sans Bold"/>
                <a:ea typeface="Noto Sans Bold"/>
                <a:cs typeface="Noto Sans Bold"/>
                <a:sym typeface="Noto Sans Bold"/>
              </a:rPr>
              <a:t>Thiết bị tưới cây tự động</a:t>
            </a:r>
            <a:r>
              <a:rPr lang="en-US" sz="3227">
                <a:solidFill>
                  <a:srgbClr val="000000"/>
                </a:solidFill>
                <a:latin typeface="Noto Sans"/>
                <a:ea typeface="Noto Sans"/>
                <a:cs typeface="Noto Sans"/>
                <a:sym typeface="Noto Sans"/>
              </a:rPr>
              <a:t> là một giải pháp IoT thông minh giúp chăm sóc cây trồng dễ dàng và hiệu quả. </a:t>
            </a:r>
          </a:p>
          <a:p>
            <a:pPr algn="just">
              <a:lnSpc>
                <a:spcPts val="4518"/>
              </a:lnSpc>
            </a:pPr>
            <a:r>
              <a:rPr lang="en-US" sz="3227">
                <a:solidFill>
                  <a:srgbClr val="000000"/>
                </a:solidFill>
                <a:latin typeface="Noto Sans"/>
                <a:ea typeface="Noto Sans"/>
                <a:cs typeface="Noto Sans"/>
                <a:sym typeface="Noto Sans"/>
              </a:rPr>
              <a:t>Sản phẩm </a:t>
            </a:r>
            <a:r>
              <a:rPr lang="en-US" sz="3227" b="1">
                <a:solidFill>
                  <a:srgbClr val="000000"/>
                </a:solidFill>
                <a:latin typeface="Noto Sans Bold"/>
                <a:ea typeface="Noto Sans Bold"/>
                <a:cs typeface="Noto Sans Bold"/>
                <a:sym typeface="Noto Sans Bold"/>
              </a:rPr>
              <a:t>sử dụng cảm biến để đo độ ẩm đất</a:t>
            </a:r>
            <a:r>
              <a:rPr lang="en-US" sz="3227">
                <a:solidFill>
                  <a:srgbClr val="000000"/>
                </a:solidFill>
                <a:latin typeface="Noto Sans"/>
                <a:ea typeface="Noto Sans"/>
                <a:cs typeface="Noto Sans"/>
                <a:sym typeface="Noto Sans"/>
              </a:rPr>
              <a:t> theo thời gian thực.</a:t>
            </a:r>
          </a:p>
          <a:p>
            <a:pPr algn="just">
              <a:lnSpc>
                <a:spcPts val="4518"/>
              </a:lnSpc>
            </a:pPr>
            <a:r>
              <a:rPr lang="en-US" sz="3227">
                <a:solidFill>
                  <a:srgbClr val="000000"/>
                </a:solidFill>
                <a:latin typeface="Noto Sans"/>
                <a:ea typeface="Noto Sans"/>
                <a:cs typeface="Noto Sans"/>
                <a:sym typeface="Noto Sans"/>
              </a:rPr>
              <a:t>Khi độ ẩm </a:t>
            </a:r>
            <a:r>
              <a:rPr lang="en-US" sz="3227" b="1">
                <a:solidFill>
                  <a:srgbClr val="000000"/>
                </a:solidFill>
                <a:latin typeface="Noto Sans Bold"/>
                <a:ea typeface="Noto Sans Bold"/>
                <a:cs typeface="Noto Sans Bold"/>
                <a:sym typeface="Noto Sans Bold"/>
              </a:rPr>
              <a:t>dưới ngưỡng</a:t>
            </a:r>
            <a:r>
              <a:rPr lang="en-US" sz="3227">
                <a:solidFill>
                  <a:srgbClr val="000000"/>
                </a:solidFill>
                <a:latin typeface="Noto Sans"/>
                <a:ea typeface="Noto Sans"/>
                <a:cs typeface="Noto Sans"/>
                <a:sym typeface="Noto Sans"/>
              </a:rPr>
              <a:t> cài đặt, hệ thống sẽ tự động tưới nước, giúp cây luôn được cung cấp đủ nước ngay cả khi người dùng bận rộn hoặc vắng mặt. Ngoài ra, thiết bị </a:t>
            </a:r>
            <a:r>
              <a:rPr lang="en-US" sz="3227" b="1">
                <a:solidFill>
                  <a:srgbClr val="000000"/>
                </a:solidFill>
                <a:latin typeface="Noto Sans Bold"/>
                <a:ea typeface="Noto Sans Bold"/>
                <a:cs typeface="Noto Sans Bold"/>
                <a:sym typeface="Noto Sans Bold"/>
              </a:rPr>
              <a:t>đo nhiệt độ và ánh sáng</a:t>
            </a:r>
            <a:r>
              <a:rPr lang="en-US" sz="3227">
                <a:solidFill>
                  <a:srgbClr val="000000"/>
                </a:solidFill>
                <a:latin typeface="Noto Sans"/>
                <a:ea typeface="Noto Sans"/>
                <a:cs typeface="Noto Sans"/>
                <a:sym typeface="Noto Sans"/>
              </a:rPr>
              <a:t> để giám sát điều kiện môi trường xung quanh cây.</a:t>
            </a:r>
          </a:p>
        </p:txBody>
      </p:sp>
      <p:sp>
        <p:nvSpPr>
          <p:cNvPr id="14" name="Freeform 14"/>
          <p:cNvSpPr/>
          <p:nvPr/>
        </p:nvSpPr>
        <p:spPr>
          <a:xfrm>
            <a:off x="13821255" y="3825738"/>
            <a:ext cx="3305863" cy="3483189"/>
          </a:xfrm>
          <a:custGeom>
            <a:avLst/>
            <a:gdLst/>
            <a:ahLst/>
            <a:cxnLst/>
            <a:rect l="l" t="t" r="r" b="b"/>
            <a:pathLst>
              <a:path w="3305863" h="3483189">
                <a:moveTo>
                  <a:pt x="0" y="0"/>
                </a:moveTo>
                <a:lnTo>
                  <a:pt x="3305863" y="0"/>
                </a:lnTo>
                <a:lnTo>
                  <a:pt x="3305863" y="3483189"/>
                </a:lnTo>
                <a:lnTo>
                  <a:pt x="0" y="34831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5" name="TextBox 15"/>
          <p:cNvSpPr txBox="1"/>
          <p:nvPr/>
        </p:nvSpPr>
        <p:spPr>
          <a:xfrm>
            <a:off x="1464468" y="914400"/>
            <a:ext cx="8746331" cy="1035688"/>
          </a:xfrm>
          <a:prstGeom prst="rect">
            <a:avLst/>
          </a:prstGeom>
        </p:spPr>
        <p:txBody>
          <a:bodyPr wrap="square" lIns="0" tIns="0" rIns="0" bIns="0" rtlCol="0" anchor="t">
            <a:spAutoFit/>
          </a:bodyPr>
          <a:lstStyle/>
          <a:p>
            <a:pPr>
              <a:lnSpc>
                <a:spcPts val="8539"/>
              </a:lnSpc>
              <a:spcBef>
                <a:spcPct val="0"/>
              </a:spcBef>
            </a:pPr>
            <a:r>
              <a:rPr lang="en-US" sz="6099" b="1" dirty="0" err="1">
                <a:solidFill>
                  <a:srgbClr val="000000"/>
                </a:solidFill>
                <a:latin typeface="Muli Bold"/>
                <a:ea typeface="Muli Bold"/>
                <a:cs typeface="Muli Bold"/>
                <a:sym typeface="Muli Bold"/>
              </a:rPr>
              <a:t>Giới</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thiệu</a:t>
            </a:r>
            <a:r>
              <a:rPr lang="en-US" sz="6099" b="1" dirty="0">
                <a:solidFill>
                  <a:srgbClr val="000000"/>
                </a:solidFill>
                <a:latin typeface="Muli Bold"/>
                <a:ea typeface="Muli Bold"/>
                <a:cs typeface="Muli Bold"/>
                <a:sym typeface="Muli Bold"/>
              </a:rPr>
              <a:t> ý </a:t>
            </a:r>
            <a:r>
              <a:rPr lang="en-US" sz="6099" b="1" dirty="0" err="1">
                <a:solidFill>
                  <a:srgbClr val="000000"/>
                </a:solidFill>
                <a:latin typeface="Muli Bold"/>
                <a:ea typeface="Muli Bold"/>
                <a:cs typeface="Muli Bold"/>
                <a:sym typeface="Muli Bold"/>
              </a:rPr>
              <a:t>tưởng</a:t>
            </a:r>
            <a:endParaRPr lang="en-US" sz="6099" b="1" dirty="0">
              <a:solidFill>
                <a:srgbClr val="000000"/>
              </a:solidFill>
              <a:latin typeface="Muli Bold"/>
              <a:ea typeface="Muli Bold"/>
              <a:cs typeface="Muli Bold"/>
              <a:sym typeface="Muli Bold"/>
            </a:endParaRPr>
          </a:p>
        </p:txBody>
      </p:sp>
      <p:sp>
        <p:nvSpPr>
          <p:cNvPr id="16" name="TextBox 16"/>
          <p:cNvSpPr txBox="1"/>
          <p:nvPr/>
        </p:nvSpPr>
        <p:spPr>
          <a:xfrm>
            <a:off x="4384737" y="7564740"/>
            <a:ext cx="12874563" cy="16991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Điểm đặc biệt là giao diện web qua </a:t>
            </a:r>
            <a:r>
              <a:rPr lang="en-US" sz="3227" b="1">
                <a:solidFill>
                  <a:srgbClr val="000000"/>
                </a:solidFill>
                <a:latin typeface="Noto Sans Bold"/>
                <a:ea typeface="Noto Sans Bold"/>
                <a:cs typeface="Noto Sans Bold"/>
                <a:sym typeface="Noto Sans Bold"/>
              </a:rPr>
              <a:t>Node-RED</a:t>
            </a:r>
            <a:r>
              <a:rPr lang="en-US" sz="3227">
                <a:solidFill>
                  <a:srgbClr val="000000"/>
                </a:solidFill>
                <a:latin typeface="Noto Sans"/>
                <a:ea typeface="Noto Sans"/>
                <a:cs typeface="Noto Sans"/>
                <a:sym typeface="Noto Sans"/>
              </a:rPr>
              <a:t>, cho phép người dùng theo dõi và điều khiển từ xa, đảm bảo cây phát triển trong môi trường lý tưởng.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622699" y="9390607"/>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516322" y="6567462"/>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932474" y="5746592"/>
            <a:ext cx="2481390" cy="21488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6458977" y="-843035"/>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sp>
        <p:nvSpPr>
          <p:cNvPr id="10" name="TextBox 10"/>
          <p:cNvSpPr txBox="1"/>
          <p:nvPr/>
        </p:nvSpPr>
        <p:spPr>
          <a:xfrm>
            <a:off x="5486400" y="2390924"/>
            <a:ext cx="11772900" cy="3985198"/>
          </a:xfrm>
          <a:prstGeom prst="rect">
            <a:avLst/>
          </a:prstGeom>
        </p:spPr>
        <p:txBody>
          <a:bodyPr wrap="square" lIns="0" tIns="0" rIns="0" bIns="0" rtlCol="0" anchor="t">
            <a:spAutoFit/>
          </a:bodyPr>
          <a:lstStyle/>
          <a:p>
            <a:pPr algn="r">
              <a:lnSpc>
                <a:spcPts val="4518"/>
              </a:lnSpc>
            </a:pPr>
            <a:r>
              <a:rPr lang="en-US" sz="3227" dirty="0" err="1">
                <a:solidFill>
                  <a:srgbClr val="000000"/>
                </a:solidFill>
                <a:latin typeface="Noto Sans"/>
                <a:ea typeface="Noto Sans"/>
                <a:cs typeface="Noto Sans"/>
                <a:sym typeface="Noto Sans"/>
              </a:rPr>
              <a:t>Nhóm</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em</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nhận</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thấy</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việc</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tưới</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cây</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đều</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đặn</a:t>
            </a:r>
            <a:r>
              <a:rPr lang="en-US" sz="3227" dirty="0">
                <a:solidFill>
                  <a:srgbClr val="000000"/>
                </a:solidFill>
                <a:latin typeface="Noto Sans"/>
                <a:ea typeface="Noto Sans"/>
                <a:cs typeface="Noto Sans"/>
                <a:sym typeface="Noto Sans"/>
              </a:rPr>
              <a:t> </a:t>
            </a:r>
            <a:r>
              <a:rPr lang="en-US" sz="3227" b="1" dirty="0" err="1">
                <a:solidFill>
                  <a:srgbClr val="000000"/>
                </a:solidFill>
                <a:latin typeface="Noto Sans Bold"/>
                <a:ea typeface="Noto Sans Bold"/>
                <a:cs typeface="Noto Sans Bold"/>
                <a:sym typeface="Noto Sans Bold"/>
              </a:rPr>
              <a:t>thường</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gặp</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khó</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khăn</a:t>
            </a:r>
            <a:r>
              <a:rPr lang="en-US" sz="3227" b="1" dirty="0">
                <a:solidFill>
                  <a:srgbClr val="000000"/>
                </a:solidFill>
                <a:latin typeface="Noto Sans Bold"/>
                <a:ea typeface="Noto Sans Bold"/>
                <a:cs typeface="Noto Sans Bold"/>
                <a:sym typeface="Noto Sans Bold"/>
              </a:rPr>
              <a:t> do </a:t>
            </a:r>
            <a:r>
              <a:rPr lang="en-US" sz="3227" b="1" dirty="0" err="1">
                <a:solidFill>
                  <a:srgbClr val="000000"/>
                </a:solidFill>
                <a:latin typeface="Noto Sans Bold"/>
                <a:ea typeface="Noto Sans Bold"/>
                <a:cs typeface="Noto Sans Bold"/>
                <a:sym typeface="Noto Sans Bold"/>
              </a:rPr>
              <a:t>bận</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rộn</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hoặc</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đi</a:t>
            </a:r>
            <a:r>
              <a:rPr lang="en-US" sz="3227" b="1" dirty="0">
                <a:solidFill>
                  <a:srgbClr val="000000"/>
                </a:solidFill>
                <a:latin typeface="Noto Sans Bold"/>
                <a:ea typeface="Noto Sans Bold"/>
                <a:cs typeface="Noto Sans Bold"/>
                <a:sym typeface="Noto Sans Bold"/>
              </a:rPr>
              <a:t> xa</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khiến</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cây</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dễ</a:t>
            </a:r>
            <a:r>
              <a:rPr lang="en-US" sz="3227" dirty="0">
                <a:solidFill>
                  <a:srgbClr val="000000"/>
                </a:solidFill>
                <a:latin typeface="Noto Sans"/>
                <a:ea typeface="Noto Sans"/>
                <a:cs typeface="Noto Sans"/>
                <a:sym typeface="Noto Sans"/>
              </a:rPr>
              <a:t> </a:t>
            </a:r>
            <a:r>
              <a:rPr lang="en-US" sz="3227" u="sng" dirty="0" err="1">
                <a:solidFill>
                  <a:srgbClr val="000000"/>
                </a:solidFill>
                <a:latin typeface="Noto Sans"/>
                <a:ea typeface="Noto Sans"/>
                <a:cs typeface="Noto Sans"/>
                <a:sym typeface="Noto Sans"/>
              </a:rPr>
              <a:t>thiếu</a:t>
            </a:r>
            <a:r>
              <a:rPr lang="en-US" sz="3227" u="sng" dirty="0">
                <a:solidFill>
                  <a:srgbClr val="000000"/>
                </a:solidFill>
                <a:latin typeface="Noto Sans"/>
                <a:ea typeface="Noto Sans"/>
                <a:cs typeface="Noto Sans"/>
                <a:sym typeface="Noto Sans"/>
              </a:rPr>
              <a:t> </a:t>
            </a:r>
            <a:r>
              <a:rPr lang="en-US" sz="3227" u="sng" dirty="0" err="1">
                <a:solidFill>
                  <a:srgbClr val="000000"/>
                </a:solidFill>
                <a:latin typeface="Noto Sans"/>
                <a:ea typeface="Noto Sans"/>
                <a:cs typeface="Noto Sans"/>
                <a:sym typeface="Noto Sans"/>
              </a:rPr>
              <a:t>nước</a:t>
            </a:r>
            <a:r>
              <a:rPr lang="en-US" sz="3227" u="sng" dirty="0">
                <a:solidFill>
                  <a:srgbClr val="000000"/>
                </a:solidFill>
                <a:latin typeface="Noto Sans"/>
                <a:ea typeface="Noto Sans"/>
                <a:cs typeface="Noto Sans"/>
                <a:sym typeface="Noto Sans"/>
              </a:rPr>
              <a:t> </a:t>
            </a:r>
            <a:r>
              <a:rPr lang="en-US" sz="3227" u="sng" dirty="0" err="1">
                <a:solidFill>
                  <a:srgbClr val="000000"/>
                </a:solidFill>
                <a:latin typeface="Noto Sans"/>
                <a:ea typeface="Noto Sans"/>
                <a:cs typeface="Noto Sans"/>
                <a:sym typeface="Noto Sans"/>
              </a:rPr>
              <a:t>hoặc</a:t>
            </a:r>
            <a:r>
              <a:rPr lang="en-US" sz="3227" u="sng" dirty="0">
                <a:solidFill>
                  <a:srgbClr val="000000"/>
                </a:solidFill>
                <a:latin typeface="Noto Sans"/>
                <a:ea typeface="Noto Sans"/>
                <a:cs typeface="Noto Sans"/>
                <a:sym typeface="Noto Sans"/>
              </a:rPr>
              <a:t> </a:t>
            </a:r>
            <a:r>
              <a:rPr lang="en-US" sz="3227" u="sng" dirty="0" err="1">
                <a:solidFill>
                  <a:srgbClr val="000000"/>
                </a:solidFill>
                <a:latin typeface="Noto Sans"/>
                <a:ea typeface="Noto Sans"/>
                <a:cs typeface="Noto Sans"/>
                <a:sym typeface="Noto Sans"/>
              </a:rPr>
              <a:t>bị</a:t>
            </a:r>
            <a:r>
              <a:rPr lang="en-US" sz="3227" u="sng" dirty="0">
                <a:solidFill>
                  <a:srgbClr val="000000"/>
                </a:solidFill>
                <a:latin typeface="Noto Sans"/>
                <a:ea typeface="Noto Sans"/>
                <a:cs typeface="Noto Sans"/>
                <a:sym typeface="Noto Sans"/>
              </a:rPr>
              <a:t> </a:t>
            </a:r>
            <a:r>
              <a:rPr lang="en-US" sz="3227" u="sng" dirty="0" err="1">
                <a:solidFill>
                  <a:srgbClr val="000000"/>
                </a:solidFill>
                <a:latin typeface="Noto Sans"/>
                <a:ea typeface="Noto Sans"/>
                <a:cs typeface="Noto Sans"/>
                <a:sym typeface="Noto Sans"/>
              </a:rPr>
              <a:t>héo</a:t>
            </a:r>
            <a:r>
              <a:rPr lang="en-US" sz="3227" u="sng" dirty="0">
                <a:solidFill>
                  <a:srgbClr val="000000"/>
                </a:solidFill>
                <a:latin typeface="Noto Sans"/>
                <a:ea typeface="Noto Sans"/>
                <a:cs typeface="Noto Sans"/>
                <a:sym typeface="Noto Sans"/>
              </a:rPr>
              <a:t> </a:t>
            </a:r>
            <a:r>
              <a:rPr lang="en-US" sz="3227" u="sng" dirty="0" err="1">
                <a:solidFill>
                  <a:srgbClr val="000000"/>
                </a:solidFill>
                <a:latin typeface="Noto Sans"/>
                <a:ea typeface="Noto Sans"/>
                <a:cs typeface="Noto Sans"/>
                <a:sym typeface="Noto Sans"/>
              </a:rPr>
              <a:t>úa</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Thiết</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bị</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tưới</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cây</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tự</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động</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này</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được</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thiết</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kế</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để</a:t>
            </a:r>
            <a:r>
              <a:rPr lang="en-US" sz="3227" dirty="0">
                <a:solidFill>
                  <a:srgbClr val="000000"/>
                </a:solidFill>
                <a:latin typeface="Noto Sans"/>
                <a:ea typeface="Noto Sans"/>
                <a:cs typeface="Noto Sans"/>
                <a:sym typeface="Noto Sans"/>
              </a:rPr>
              <a:t> </a:t>
            </a:r>
            <a:r>
              <a:rPr lang="en-US" sz="3227" b="1" dirty="0" err="1">
                <a:solidFill>
                  <a:srgbClr val="000000"/>
                </a:solidFill>
                <a:latin typeface="Noto Sans Bold"/>
                <a:ea typeface="Noto Sans Bold"/>
                <a:cs typeface="Noto Sans Bold"/>
                <a:sym typeface="Noto Sans Bold"/>
              </a:rPr>
              <a:t>theo</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dõi</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và</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duy</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trì</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độ</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ẩm</a:t>
            </a:r>
            <a:r>
              <a:rPr lang="en-US" sz="3227" b="1" dirty="0">
                <a:solidFill>
                  <a:srgbClr val="000000"/>
                </a:solidFill>
                <a:latin typeface="Noto Sans Bold"/>
                <a:ea typeface="Noto Sans Bold"/>
                <a:cs typeface="Noto Sans Bold"/>
                <a:sym typeface="Noto Sans Bold"/>
              </a:rPr>
              <a:t> </a:t>
            </a:r>
            <a:r>
              <a:rPr lang="en-US" sz="3227" b="1" dirty="0" err="1">
                <a:solidFill>
                  <a:srgbClr val="000000"/>
                </a:solidFill>
                <a:latin typeface="Noto Sans Bold"/>
                <a:ea typeface="Noto Sans Bold"/>
                <a:cs typeface="Noto Sans Bold"/>
                <a:sym typeface="Noto Sans Bold"/>
              </a:rPr>
              <a:t>đất</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một</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cách</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chính</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xác</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giúp</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cây</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phát</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triển</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trong</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điều</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kiện</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tối</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ưu</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mà</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không</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cần</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người</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dùng</a:t>
            </a:r>
            <a:r>
              <a:rPr lang="en-US" sz="3227" dirty="0">
                <a:solidFill>
                  <a:srgbClr val="000000"/>
                </a:solidFill>
                <a:latin typeface="Noto Sans"/>
                <a:ea typeface="Noto Sans"/>
                <a:cs typeface="Noto Sans"/>
                <a:sym typeface="Noto Sans"/>
              </a:rPr>
              <a:t> can </a:t>
            </a:r>
            <a:r>
              <a:rPr lang="en-US" sz="3227" dirty="0" err="1">
                <a:solidFill>
                  <a:srgbClr val="000000"/>
                </a:solidFill>
                <a:latin typeface="Noto Sans"/>
                <a:ea typeface="Noto Sans"/>
                <a:cs typeface="Noto Sans"/>
                <a:sym typeface="Noto Sans"/>
              </a:rPr>
              <a:t>thiệp</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thường</a:t>
            </a:r>
            <a:r>
              <a:rPr lang="en-US" sz="3227" dirty="0">
                <a:solidFill>
                  <a:srgbClr val="000000"/>
                </a:solidFill>
                <a:latin typeface="Noto Sans"/>
                <a:ea typeface="Noto Sans"/>
                <a:cs typeface="Noto Sans"/>
                <a:sym typeface="Noto Sans"/>
              </a:rPr>
              <a:t> </a:t>
            </a:r>
            <a:r>
              <a:rPr lang="en-US" sz="3227" dirty="0" err="1">
                <a:solidFill>
                  <a:srgbClr val="000000"/>
                </a:solidFill>
                <a:latin typeface="Noto Sans"/>
                <a:ea typeface="Noto Sans"/>
                <a:cs typeface="Noto Sans"/>
                <a:sym typeface="Noto Sans"/>
              </a:rPr>
              <a:t>xuyên</a:t>
            </a:r>
            <a:r>
              <a:rPr lang="en-US" sz="3227" dirty="0">
                <a:solidFill>
                  <a:srgbClr val="000000"/>
                </a:solidFill>
                <a:latin typeface="Noto Sans"/>
                <a:ea typeface="Noto Sans"/>
                <a:cs typeface="Noto Sans"/>
                <a:sym typeface="Noto Sans"/>
              </a:rPr>
              <a:t>.</a:t>
            </a:r>
          </a:p>
          <a:p>
            <a:pPr algn="r">
              <a:lnSpc>
                <a:spcPts val="4518"/>
              </a:lnSpc>
            </a:pPr>
            <a:endParaRPr lang="en-US" sz="3227" dirty="0">
              <a:solidFill>
                <a:srgbClr val="000000"/>
              </a:solidFill>
              <a:latin typeface="Noto Sans"/>
              <a:ea typeface="Noto Sans"/>
              <a:cs typeface="Noto Sans"/>
              <a:sym typeface="Noto Sans"/>
            </a:endParaRPr>
          </a:p>
        </p:txBody>
      </p:sp>
      <p:sp>
        <p:nvSpPr>
          <p:cNvPr id="11" name="Freeform 11"/>
          <p:cNvSpPr/>
          <p:nvPr/>
        </p:nvSpPr>
        <p:spPr>
          <a:xfrm rot="810049">
            <a:off x="2905066" y="4697068"/>
            <a:ext cx="2761469" cy="3049815"/>
          </a:xfrm>
          <a:custGeom>
            <a:avLst/>
            <a:gdLst/>
            <a:ahLst/>
            <a:cxnLst/>
            <a:rect l="l" t="t" r="r" b="b"/>
            <a:pathLst>
              <a:path w="2761469" h="3049815">
                <a:moveTo>
                  <a:pt x="0" y="0"/>
                </a:moveTo>
                <a:lnTo>
                  <a:pt x="2761469" y="0"/>
                </a:lnTo>
                <a:lnTo>
                  <a:pt x="2761469" y="3049815"/>
                </a:lnTo>
                <a:lnTo>
                  <a:pt x="0" y="30498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551397" y="2196674"/>
            <a:ext cx="5174418" cy="3019979"/>
          </a:xfrm>
          <a:custGeom>
            <a:avLst/>
            <a:gdLst/>
            <a:ahLst/>
            <a:cxnLst/>
            <a:rect l="l" t="t" r="r" b="b"/>
            <a:pathLst>
              <a:path w="5174418" h="3019979">
                <a:moveTo>
                  <a:pt x="0" y="0"/>
                </a:moveTo>
                <a:lnTo>
                  <a:pt x="5174419" y="0"/>
                </a:lnTo>
                <a:lnTo>
                  <a:pt x="5174419" y="3019978"/>
                </a:lnTo>
                <a:lnTo>
                  <a:pt x="0" y="301997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1464841" y="914400"/>
            <a:ext cx="9126959" cy="1035688"/>
          </a:xfrm>
          <a:prstGeom prst="rect">
            <a:avLst/>
          </a:prstGeom>
        </p:spPr>
        <p:txBody>
          <a:bodyPr wrap="square" lIns="0" tIns="0" rIns="0" bIns="0" rtlCol="0" anchor="t">
            <a:spAutoFit/>
          </a:bodyPr>
          <a:lstStyle/>
          <a:p>
            <a:pPr>
              <a:lnSpc>
                <a:spcPts val="8539"/>
              </a:lnSpc>
              <a:spcBef>
                <a:spcPct val="0"/>
              </a:spcBef>
            </a:pPr>
            <a:r>
              <a:rPr lang="en-US" sz="6099" b="1" dirty="0">
                <a:solidFill>
                  <a:srgbClr val="000000"/>
                </a:solidFill>
                <a:latin typeface="Muli Bold"/>
                <a:ea typeface="Muli Bold"/>
                <a:cs typeface="Muli Bold"/>
                <a:sym typeface="Muli Bold"/>
              </a:rPr>
              <a:t>Lý do </a:t>
            </a:r>
            <a:r>
              <a:rPr lang="en-US" sz="6099" b="1" dirty="0" err="1">
                <a:solidFill>
                  <a:srgbClr val="000000"/>
                </a:solidFill>
                <a:latin typeface="Muli Bold"/>
                <a:ea typeface="Muli Bold"/>
                <a:cs typeface="Muli Bold"/>
                <a:sym typeface="Muli Bold"/>
              </a:rPr>
              <a:t>chọn</a:t>
            </a:r>
            <a:r>
              <a:rPr lang="en-US" sz="6099" b="1" dirty="0">
                <a:solidFill>
                  <a:srgbClr val="000000"/>
                </a:solidFill>
                <a:latin typeface="Muli Bold"/>
                <a:ea typeface="Muli Bold"/>
                <a:cs typeface="Muli Bold"/>
                <a:sym typeface="Muli Bold"/>
              </a:rPr>
              <a:t> ý </a:t>
            </a:r>
            <a:r>
              <a:rPr lang="en-US" sz="6099" b="1" dirty="0" err="1">
                <a:solidFill>
                  <a:srgbClr val="000000"/>
                </a:solidFill>
                <a:latin typeface="Muli Bold"/>
                <a:ea typeface="Muli Bold"/>
                <a:cs typeface="Muli Bold"/>
                <a:sym typeface="Muli Bold"/>
              </a:rPr>
              <a:t>tưởng</a:t>
            </a:r>
            <a:endParaRPr lang="en-US" sz="6099" b="1" dirty="0">
              <a:solidFill>
                <a:srgbClr val="000000"/>
              </a:solidFill>
              <a:latin typeface="Muli Bold"/>
              <a:ea typeface="Muli Bold"/>
              <a:cs typeface="Muli Bold"/>
              <a:sym typeface="Muli Bold"/>
            </a:endParaRPr>
          </a:p>
        </p:txBody>
      </p:sp>
      <p:sp>
        <p:nvSpPr>
          <p:cNvPr id="14" name="TextBox 14"/>
          <p:cNvSpPr txBox="1"/>
          <p:nvPr/>
        </p:nvSpPr>
        <p:spPr>
          <a:xfrm>
            <a:off x="5207697" y="6155301"/>
            <a:ext cx="12051603" cy="3413698"/>
          </a:xfrm>
          <a:prstGeom prst="rect">
            <a:avLst/>
          </a:prstGeom>
        </p:spPr>
        <p:txBody>
          <a:bodyPr lIns="0" tIns="0" rIns="0" bIns="0" rtlCol="0" anchor="t">
            <a:spAutoFit/>
          </a:bodyPr>
          <a:lstStyle/>
          <a:p>
            <a:pPr algn="r">
              <a:lnSpc>
                <a:spcPts val="4518"/>
              </a:lnSpc>
            </a:pPr>
            <a:r>
              <a:rPr lang="en-US" sz="3227">
                <a:solidFill>
                  <a:srgbClr val="000000"/>
                </a:solidFill>
                <a:latin typeface="Noto Sans"/>
                <a:ea typeface="Noto Sans"/>
                <a:cs typeface="Noto Sans"/>
                <a:sym typeface="Noto Sans"/>
              </a:rPr>
              <a:t>.</a:t>
            </a:r>
          </a:p>
          <a:p>
            <a:pPr algn="r">
              <a:lnSpc>
                <a:spcPts val="4518"/>
              </a:lnSpc>
            </a:pPr>
            <a:r>
              <a:rPr lang="en-US" sz="3227">
                <a:solidFill>
                  <a:srgbClr val="000000"/>
                </a:solidFill>
                <a:latin typeface="Noto Sans"/>
                <a:ea typeface="Noto Sans"/>
                <a:cs typeface="Noto Sans"/>
                <a:sym typeface="Noto Sans"/>
              </a:rPr>
              <a:t>Thông qua giao diện điều khiển từ xa qua Node-RED, người dùng có thể dễ dàng giám sát và điều chỉnh hệ thống tưới nước, mang lại giải pháp chăm sóc cây thông minh cho người </a:t>
            </a:r>
            <a:r>
              <a:rPr lang="en-US" sz="3227" b="1">
                <a:solidFill>
                  <a:srgbClr val="000000"/>
                </a:solidFill>
                <a:latin typeface="Noto Sans Bold"/>
                <a:ea typeface="Noto Sans Bold"/>
                <a:cs typeface="Noto Sans Bold"/>
                <a:sym typeface="Noto Sans Bold"/>
              </a:rPr>
              <a:t>yêu cây nhưng có lịch trình bận rộn.</a:t>
            </a:r>
          </a:p>
          <a:p>
            <a:pPr algn="r">
              <a:lnSpc>
                <a:spcPts val="4518"/>
              </a:lnSpc>
            </a:pPr>
            <a:endParaRPr lang="en-US" sz="3227" b="1">
              <a:solidFill>
                <a:srgbClr val="000000"/>
              </a:solidFill>
              <a:latin typeface="Noto Sans Bold"/>
              <a:ea typeface="Noto Sans Bold"/>
              <a:cs typeface="Noto Sans Bold"/>
              <a:sym typeface="Noto Sa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88889" y="-1089376"/>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248194" y="-1335132"/>
            <a:ext cx="2481390" cy="2148895"/>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6" name="TextBox 6"/>
          <p:cNvSpPr txBox="1"/>
          <p:nvPr/>
        </p:nvSpPr>
        <p:spPr>
          <a:xfrm>
            <a:off x="1464394" y="699463"/>
            <a:ext cx="9965606" cy="1035688"/>
          </a:xfrm>
          <a:prstGeom prst="rect">
            <a:avLst/>
          </a:prstGeom>
        </p:spPr>
        <p:txBody>
          <a:bodyPr wrap="square" lIns="0" tIns="0" rIns="0" bIns="0" rtlCol="0" anchor="t">
            <a:spAutoFit/>
          </a:bodyPr>
          <a:lstStyle/>
          <a:p>
            <a:pPr>
              <a:lnSpc>
                <a:spcPts val="8539"/>
              </a:lnSpc>
              <a:spcBef>
                <a:spcPct val="0"/>
              </a:spcBef>
            </a:pPr>
            <a:r>
              <a:rPr lang="en-US" sz="6099" b="1" dirty="0" err="1">
                <a:solidFill>
                  <a:srgbClr val="000000"/>
                </a:solidFill>
                <a:latin typeface="Muli Bold"/>
                <a:ea typeface="Muli Bold"/>
                <a:cs typeface="Muli Bold"/>
                <a:sym typeface="Muli Bold"/>
              </a:rPr>
              <a:t>Tổng</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quan</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sản</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phẩm</a:t>
            </a:r>
            <a:endParaRPr lang="en-US" sz="6099" b="1" dirty="0">
              <a:solidFill>
                <a:srgbClr val="000000"/>
              </a:solidFill>
              <a:latin typeface="Muli Bold"/>
              <a:ea typeface="Muli Bold"/>
              <a:cs typeface="Muli Bold"/>
              <a:sym typeface="Muli Bold"/>
            </a:endParaRPr>
          </a:p>
        </p:txBody>
      </p:sp>
      <p:grpSp>
        <p:nvGrpSpPr>
          <p:cNvPr id="7" name="Group 7"/>
          <p:cNvGrpSpPr/>
          <p:nvPr/>
        </p:nvGrpSpPr>
        <p:grpSpPr>
          <a:xfrm>
            <a:off x="16392986" y="7150994"/>
            <a:ext cx="4201515" cy="3638531"/>
            <a:chOff x="0" y="0"/>
            <a:chExt cx="3619627" cy="3134614"/>
          </a:xfrm>
        </p:grpSpPr>
        <p:sp>
          <p:nvSpPr>
            <p:cNvPr id="8" name="Freeform 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9" name="Group 9"/>
          <p:cNvGrpSpPr/>
          <p:nvPr/>
        </p:nvGrpSpPr>
        <p:grpSpPr>
          <a:xfrm>
            <a:off x="16018605" y="8313494"/>
            <a:ext cx="2481390" cy="2148895"/>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1" name="TextBox 11"/>
          <p:cNvSpPr txBox="1"/>
          <p:nvPr/>
        </p:nvSpPr>
        <p:spPr>
          <a:xfrm>
            <a:off x="1488889" y="1905191"/>
            <a:ext cx="14458761" cy="85571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Thiết bị tưới cây tự động là hệ thống IoT tích hợp nhiều cảm biến và tính năng, giúp duy trì điều kiện tốt nhất cho cây trồng, mang lại tiện ích cho người dùng. </a:t>
            </a:r>
            <a:r>
              <a:rPr lang="en-US" sz="3227" u="sng">
                <a:solidFill>
                  <a:srgbClr val="000000"/>
                </a:solidFill>
                <a:latin typeface="Noto Sans"/>
                <a:ea typeface="Noto Sans"/>
                <a:cs typeface="Noto Sans"/>
                <a:sym typeface="Noto Sans"/>
              </a:rPr>
              <a:t>Sản phẩm bao gồm các chức năng chính</a:t>
            </a:r>
            <a:r>
              <a:rPr lang="en-US" sz="3227">
                <a:solidFill>
                  <a:srgbClr val="000000"/>
                </a:solidFill>
                <a:latin typeface="Noto Sans"/>
                <a:ea typeface="Noto Sans"/>
                <a:cs typeface="Noto Sans"/>
                <a:sym typeface="Noto Sans"/>
              </a:rPr>
              <a:t>:</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T</a:t>
            </a:r>
            <a:r>
              <a:rPr lang="en-US" sz="3227" b="1" u="none">
                <a:solidFill>
                  <a:srgbClr val="000000"/>
                </a:solidFill>
                <a:latin typeface="Noto Sans Bold"/>
                <a:ea typeface="Noto Sans Bold"/>
                <a:cs typeface="Noto Sans Bold"/>
                <a:sym typeface="Noto Sans Bold"/>
              </a:rPr>
              <a:t>ướ</a:t>
            </a:r>
            <a:r>
              <a:rPr lang="en-US" sz="3227" b="1">
                <a:solidFill>
                  <a:srgbClr val="000000"/>
                </a:solidFill>
                <a:latin typeface="Noto Sans Bold"/>
                <a:ea typeface="Noto Sans Bold"/>
                <a:cs typeface="Noto Sans Bold"/>
                <a:sym typeface="Noto Sans Bold"/>
              </a:rPr>
              <a:t>i tự động</a:t>
            </a:r>
            <a:r>
              <a:rPr lang="en-US" sz="3227">
                <a:solidFill>
                  <a:srgbClr val="000000"/>
                </a:solidFill>
                <a:latin typeface="Noto Sans"/>
                <a:ea typeface="Noto Sans"/>
                <a:cs typeface="Noto Sans"/>
                <a:sym typeface="Noto Sans"/>
              </a:rPr>
              <a:t>: Kí</a:t>
            </a:r>
            <a:r>
              <a:rPr lang="en-US" sz="3227" u="none">
                <a:solidFill>
                  <a:srgbClr val="000000"/>
                </a:solidFill>
                <a:latin typeface="Noto Sans"/>
                <a:ea typeface="Noto Sans"/>
                <a:cs typeface="Noto Sans"/>
                <a:sym typeface="Noto Sans"/>
              </a:rPr>
              <a:t>c</a:t>
            </a:r>
            <a:r>
              <a:rPr lang="en-US" sz="3227">
                <a:solidFill>
                  <a:srgbClr val="000000"/>
                </a:solidFill>
                <a:latin typeface="Noto Sans"/>
                <a:ea typeface="Noto Sans"/>
                <a:cs typeface="Noto Sans"/>
                <a:sym typeface="Noto Sans"/>
              </a:rPr>
              <a:t>h</a:t>
            </a:r>
            <a:r>
              <a:rPr lang="en-US" sz="3227" u="none">
                <a:solidFill>
                  <a:srgbClr val="000000"/>
                </a:solidFill>
                <a:latin typeface="Noto Sans"/>
                <a:ea typeface="Noto Sans"/>
                <a:cs typeface="Noto Sans"/>
                <a:sym typeface="Noto Sans"/>
              </a:rPr>
              <a:t> ho</a:t>
            </a:r>
            <a:r>
              <a:rPr lang="en-US" sz="3227">
                <a:solidFill>
                  <a:srgbClr val="000000"/>
                </a:solidFill>
                <a:latin typeface="Noto Sans"/>
                <a:ea typeface="Noto Sans"/>
                <a:cs typeface="Noto Sans"/>
                <a:sym typeface="Noto Sans"/>
              </a:rPr>
              <a:t>ạt khi </a:t>
            </a:r>
            <a:r>
              <a:rPr lang="en-US" sz="3227" u="none">
                <a:solidFill>
                  <a:srgbClr val="000000"/>
                </a:solidFill>
                <a:latin typeface="Noto Sans"/>
                <a:ea typeface="Noto Sans"/>
                <a:cs typeface="Noto Sans"/>
                <a:sym typeface="Noto Sans"/>
              </a:rPr>
              <a:t>c</a:t>
            </a:r>
            <a:r>
              <a:rPr lang="en-US" sz="3227">
                <a:solidFill>
                  <a:srgbClr val="000000"/>
                </a:solidFill>
                <a:latin typeface="Noto Sans"/>
                <a:ea typeface="Noto Sans"/>
                <a:cs typeface="Noto Sans"/>
                <a:sym typeface="Noto Sans"/>
              </a:rPr>
              <a:t>ảm</a:t>
            </a:r>
            <a:r>
              <a:rPr lang="en-US" sz="3227" u="none">
                <a:solidFill>
                  <a:srgbClr val="000000"/>
                </a:solidFill>
                <a:latin typeface="Noto Sans"/>
                <a:ea typeface="Noto Sans"/>
                <a:cs typeface="Noto Sans"/>
                <a:sym typeface="Noto Sans"/>
              </a:rPr>
              <a:t> b</a:t>
            </a:r>
            <a:r>
              <a:rPr lang="en-US" sz="3227">
                <a:solidFill>
                  <a:srgbClr val="000000"/>
                </a:solidFill>
                <a:latin typeface="Noto Sans"/>
                <a:ea typeface="Noto Sans"/>
                <a:cs typeface="Noto Sans"/>
                <a:sym typeface="Noto Sans"/>
              </a:rPr>
              <a:t>iến</a:t>
            </a:r>
            <a:r>
              <a:rPr lang="en-US" sz="3227" u="none">
                <a:solidFill>
                  <a:srgbClr val="000000"/>
                </a:solidFill>
                <a:latin typeface="Noto Sans"/>
                <a:ea typeface="Noto Sans"/>
                <a:cs typeface="Noto Sans"/>
                <a:sym typeface="Noto Sans"/>
              </a:rPr>
              <a:t> </a:t>
            </a:r>
            <a:r>
              <a:rPr lang="en-US" sz="3227">
                <a:solidFill>
                  <a:srgbClr val="000000"/>
                </a:solidFill>
                <a:latin typeface="Noto Sans"/>
                <a:ea typeface="Noto Sans"/>
                <a:cs typeface="Noto Sans"/>
                <a:sym typeface="Noto Sans"/>
              </a:rPr>
              <a:t>p</a:t>
            </a:r>
            <a:r>
              <a:rPr lang="en-US" sz="3227" u="none">
                <a:solidFill>
                  <a:srgbClr val="000000"/>
                </a:solidFill>
                <a:latin typeface="Noto Sans"/>
                <a:ea typeface="Noto Sans"/>
                <a:cs typeface="Noto Sans"/>
                <a:sym typeface="Noto Sans"/>
              </a:rPr>
              <a:t>h</a:t>
            </a:r>
            <a:r>
              <a:rPr lang="en-US" sz="3227">
                <a:solidFill>
                  <a:srgbClr val="000000"/>
                </a:solidFill>
                <a:latin typeface="Noto Sans"/>
                <a:ea typeface="Noto Sans"/>
                <a:cs typeface="Noto Sans"/>
                <a:sym typeface="Noto Sans"/>
              </a:rPr>
              <a:t>át hiện độ ẩm đất thấp hơn ngưỡng cài đặt, đảm bảo cây luôn đủ nước.</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Đo nhiệt độ và độ ẩm không khí:</a:t>
            </a:r>
            <a:r>
              <a:rPr lang="en-US" sz="3227">
                <a:solidFill>
                  <a:srgbClr val="000000"/>
                </a:solidFill>
                <a:latin typeface="Noto Sans"/>
                <a:ea typeface="Noto Sans"/>
                <a:cs typeface="Noto Sans"/>
                <a:sym typeface="Noto Sans"/>
              </a:rPr>
              <a:t> Theo dõi và báo cáo môi trường xung quanh cây trồng.</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Cảm biến chuyển động xua đuổi động vật:</a:t>
            </a:r>
            <a:r>
              <a:rPr lang="en-US" sz="3227">
                <a:solidFill>
                  <a:srgbClr val="000000"/>
                </a:solidFill>
                <a:latin typeface="Noto Sans"/>
                <a:ea typeface="Noto Sans"/>
                <a:cs typeface="Noto Sans"/>
                <a:sym typeface="Noto Sans"/>
              </a:rPr>
              <a:t> Ngăn chặn động vật làm hại cây trồng.</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Kiểm tra lượng nước trong bình chứa:</a:t>
            </a:r>
            <a:r>
              <a:rPr lang="en-US" sz="3227">
                <a:solidFill>
                  <a:srgbClr val="000000"/>
                </a:solidFill>
                <a:latin typeface="Noto Sans"/>
                <a:ea typeface="Noto Sans"/>
                <a:cs typeface="Noto Sans"/>
                <a:sym typeface="Noto Sans"/>
              </a:rPr>
              <a:t> Cảnh báo khi nước sắp cạn.</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Hiển thị thông tin trên màn hình LCD:</a:t>
            </a:r>
            <a:r>
              <a:rPr lang="en-US" sz="3227">
                <a:solidFill>
                  <a:srgbClr val="000000"/>
                </a:solidFill>
                <a:latin typeface="Noto Sans"/>
                <a:ea typeface="Noto Sans"/>
                <a:cs typeface="Noto Sans"/>
                <a:sym typeface="Noto Sans"/>
              </a:rPr>
              <a:t> Cung cấp thông tin nhiệt độ, độ ẩm, trạng thái tưới và dung lượng pin.</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Chuyển chế độ tưới thủ công và tắt/mở thiết bị:</a:t>
            </a:r>
            <a:r>
              <a:rPr lang="en-US" sz="3227">
                <a:solidFill>
                  <a:srgbClr val="000000"/>
                </a:solidFill>
                <a:latin typeface="Noto Sans"/>
                <a:ea typeface="Noto Sans"/>
                <a:cs typeface="Noto Sans"/>
                <a:sym typeface="Noto Sans"/>
              </a:rPr>
              <a:t> Điều chỉnh linh hoạt bằng nút nhấn hoặc qua giao diện web.</a:t>
            </a:r>
          </a:p>
          <a:p>
            <a:pPr algn="just">
              <a:lnSpc>
                <a:spcPts val="4518"/>
              </a:lnSpc>
            </a:pPr>
            <a:endParaRPr lang="en-US" sz="3227">
              <a:solidFill>
                <a:srgbClr val="000000"/>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622699" y="9390607"/>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516322" y="6567462"/>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932474" y="5746592"/>
            <a:ext cx="2481390" cy="21488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6458977" y="-843035"/>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sp>
        <p:nvSpPr>
          <p:cNvPr id="10" name="TextBox 10"/>
          <p:cNvSpPr txBox="1"/>
          <p:nvPr/>
        </p:nvSpPr>
        <p:spPr>
          <a:xfrm>
            <a:off x="4878984" y="2006156"/>
            <a:ext cx="12380316" cy="7414198"/>
          </a:xfrm>
          <a:prstGeom prst="rect">
            <a:avLst/>
          </a:prstGeom>
        </p:spPr>
        <p:txBody>
          <a:bodyPr lIns="0" tIns="0" rIns="0" bIns="0" rtlCol="0" anchor="t">
            <a:spAutoFit/>
          </a:bodyPr>
          <a:lstStyle/>
          <a:p>
            <a:pPr algn="just">
              <a:lnSpc>
                <a:spcPts val="4518"/>
              </a:lnSpc>
            </a:pPr>
            <a:r>
              <a:rPr lang="en-US" sz="3227" b="1">
                <a:solidFill>
                  <a:srgbClr val="000000"/>
                </a:solidFill>
                <a:latin typeface="Noto Sans Bold"/>
                <a:ea typeface="Noto Sans Bold"/>
                <a:cs typeface="Noto Sans Bold"/>
                <a:sym typeface="Noto Sans Bold"/>
              </a:rPr>
              <a:t>Giao diện web của thiết bị trên Node-RED</a:t>
            </a:r>
            <a:r>
              <a:rPr lang="en-US" sz="3227">
                <a:solidFill>
                  <a:srgbClr val="000000"/>
                </a:solidFill>
                <a:latin typeface="Noto Sans"/>
                <a:ea typeface="Noto Sans"/>
                <a:cs typeface="Noto Sans"/>
                <a:sym typeface="Noto Sans"/>
              </a:rPr>
              <a:t> cung cấp nhiều tiện ích cho người dùng:</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Quản lý tài khoản</a:t>
            </a:r>
            <a:r>
              <a:rPr lang="en-US" sz="3227">
                <a:solidFill>
                  <a:srgbClr val="000000"/>
                </a:solidFill>
                <a:latin typeface="Noto Sans"/>
                <a:ea typeface="Noto Sans"/>
                <a:cs typeface="Noto Sans"/>
                <a:sym typeface="Noto Sans"/>
              </a:rPr>
              <a:t>: Đăng ký và đăng nhập tài khoản riêng để quản lý thiết bị.</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Điều khiển tưới từ xa</a:t>
            </a:r>
            <a:r>
              <a:rPr lang="en-US" sz="3227">
                <a:solidFill>
                  <a:srgbClr val="000000"/>
                </a:solidFill>
                <a:latin typeface="Noto Sans"/>
                <a:ea typeface="Noto Sans"/>
                <a:cs typeface="Noto Sans"/>
                <a:sym typeface="Noto Sans"/>
              </a:rPr>
              <a:t>: Bật/tắt chế độ tưới tự động và tùy chỉnh mức độ ẩm đất.</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Giám sát thông số môi trường</a:t>
            </a:r>
            <a:r>
              <a:rPr lang="en-US" sz="3227">
                <a:solidFill>
                  <a:srgbClr val="000000"/>
                </a:solidFill>
                <a:latin typeface="Noto Sans"/>
                <a:ea typeface="Noto Sans"/>
                <a:cs typeface="Noto Sans"/>
                <a:sym typeface="Noto Sans"/>
              </a:rPr>
              <a:t>: Quan sát nhiệt độ, độ ẩm không khí và độ ẩm đất theo thời gian thực.</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Lưu lịch sử tưới nước</a:t>
            </a:r>
            <a:r>
              <a:rPr lang="en-US" sz="3227">
                <a:solidFill>
                  <a:srgbClr val="000000"/>
                </a:solidFill>
                <a:latin typeface="Noto Sans"/>
                <a:ea typeface="Noto Sans"/>
                <a:cs typeface="Noto Sans"/>
                <a:sym typeface="Noto Sans"/>
              </a:rPr>
              <a:t>: Theo dõi chi tiết các lần tưới và điều kiện môi trường tại thời điểm đó.</a:t>
            </a:r>
          </a:p>
          <a:p>
            <a:pPr marL="696802" lvl="1" indent="-348401" algn="just">
              <a:lnSpc>
                <a:spcPts val="4518"/>
              </a:lnSpc>
              <a:buFont typeface="Arial"/>
              <a:buChar char="•"/>
            </a:pPr>
            <a:r>
              <a:rPr lang="en-US" sz="3227" b="1">
                <a:solidFill>
                  <a:srgbClr val="000000"/>
                </a:solidFill>
                <a:latin typeface="Noto Sans Bold"/>
                <a:ea typeface="Noto Sans Bold"/>
                <a:cs typeface="Noto Sans Bold"/>
                <a:sym typeface="Noto Sans Bold"/>
              </a:rPr>
              <a:t>Cảnh báo qua email và điện thoại</a:t>
            </a:r>
            <a:r>
              <a:rPr lang="en-US" sz="3227">
                <a:solidFill>
                  <a:srgbClr val="000000"/>
                </a:solidFill>
                <a:latin typeface="Noto Sans"/>
                <a:ea typeface="Noto Sans"/>
                <a:cs typeface="Noto Sans"/>
                <a:sym typeface="Noto Sans"/>
              </a:rPr>
              <a:t>: Thông báo khi đất quá khô, đảm bảo người dùng luôn nắm bắt tình trạng cây.</a:t>
            </a:r>
          </a:p>
          <a:p>
            <a:pPr algn="just">
              <a:lnSpc>
                <a:spcPts val="4518"/>
              </a:lnSpc>
            </a:pPr>
            <a:endParaRPr lang="en-US" sz="3227">
              <a:solidFill>
                <a:srgbClr val="000000"/>
              </a:solidFill>
              <a:latin typeface="Noto Sans"/>
              <a:ea typeface="Noto Sans"/>
              <a:cs typeface="Noto Sans"/>
              <a:sym typeface="Noto Sans"/>
            </a:endParaRPr>
          </a:p>
        </p:txBody>
      </p:sp>
      <p:sp>
        <p:nvSpPr>
          <p:cNvPr id="11" name="Freeform 11"/>
          <p:cNvSpPr/>
          <p:nvPr/>
        </p:nvSpPr>
        <p:spPr>
          <a:xfrm>
            <a:off x="1199651" y="3507869"/>
            <a:ext cx="3679334" cy="3271262"/>
          </a:xfrm>
          <a:custGeom>
            <a:avLst/>
            <a:gdLst/>
            <a:ahLst/>
            <a:cxnLst/>
            <a:rect l="l" t="t" r="r" b="b"/>
            <a:pathLst>
              <a:path w="3679334" h="3271262">
                <a:moveTo>
                  <a:pt x="0" y="0"/>
                </a:moveTo>
                <a:lnTo>
                  <a:pt x="3679333" y="0"/>
                </a:lnTo>
                <a:lnTo>
                  <a:pt x="3679333" y="3271262"/>
                </a:lnTo>
                <a:lnTo>
                  <a:pt x="0" y="32712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TextBox 12"/>
          <p:cNvSpPr txBox="1"/>
          <p:nvPr/>
        </p:nvSpPr>
        <p:spPr>
          <a:xfrm>
            <a:off x="1464394" y="699463"/>
            <a:ext cx="8289206" cy="1035688"/>
          </a:xfrm>
          <a:prstGeom prst="rect">
            <a:avLst/>
          </a:prstGeom>
        </p:spPr>
        <p:txBody>
          <a:bodyPr wrap="square" lIns="0" tIns="0" rIns="0" bIns="0" rtlCol="0" anchor="t">
            <a:spAutoFit/>
          </a:bodyPr>
          <a:lstStyle/>
          <a:p>
            <a:pPr>
              <a:lnSpc>
                <a:spcPts val="8539"/>
              </a:lnSpc>
              <a:spcBef>
                <a:spcPct val="0"/>
              </a:spcBef>
            </a:pPr>
            <a:r>
              <a:rPr lang="en-US" sz="6099" b="1" dirty="0" err="1">
                <a:solidFill>
                  <a:srgbClr val="000000"/>
                </a:solidFill>
                <a:latin typeface="Muli Bold"/>
                <a:ea typeface="Muli Bold"/>
                <a:cs typeface="Muli Bold"/>
                <a:sym typeface="Muli Bold"/>
              </a:rPr>
              <a:t>Tổng</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quan</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sản</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phẩm</a:t>
            </a:r>
            <a:endParaRPr lang="en-US" sz="6099" b="1" dirty="0">
              <a:solidFill>
                <a:srgbClr val="000000"/>
              </a:solidFill>
              <a:latin typeface="Muli Bold"/>
              <a:ea typeface="Muli Bold"/>
              <a:cs typeface="Muli Bold"/>
              <a:sym typeface="Muli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6799111" y="2687862"/>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660090" y="-135282"/>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3243939" y="-956153"/>
            <a:ext cx="2481390" cy="21488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11389" y="7439034"/>
            <a:ext cx="4201515" cy="3638531"/>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10" name="Group 10"/>
          <p:cNvGrpSpPr/>
          <p:nvPr/>
        </p:nvGrpSpPr>
        <p:grpSpPr>
          <a:xfrm>
            <a:off x="1028700" y="8183852"/>
            <a:ext cx="2481390" cy="2148895"/>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2" name="TextBox 12"/>
          <p:cNvSpPr txBox="1"/>
          <p:nvPr/>
        </p:nvSpPr>
        <p:spPr>
          <a:xfrm>
            <a:off x="1464394" y="2004202"/>
            <a:ext cx="12380316" cy="45566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Để</a:t>
            </a:r>
            <a:r>
              <a:rPr lang="en-US" sz="3227" b="1">
                <a:solidFill>
                  <a:srgbClr val="000000"/>
                </a:solidFill>
                <a:latin typeface="Noto Sans Bold"/>
                <a:ea typeface="Noto Sans Bold"/>
                <a:cs typeface="Noto Sans Bold"/>
                <a:sym typeface="Noto Sans Bold"/>
              </a:rPr>
              <a:t> lắp đặt và sử dụng thiết bị</a:t>
            </a:r>
            <a:r>
              <a:rPr lang="en-US" sz="3227">
                <a:solidFill>
                  <a:srgbClr val="000000"/>
                </a:solidFill>
                <a:latin typeface="Noto Sans"/>
                <a:ea typeface="Noto Sans"/>
                <a:cs typeface="Noto Sans"/>
                <a:sym typeface="Noto Sans"/>
              </a:rPr>
              <a:t>, người dùng cần chuẩn bị:</a:t>
            </a:r>
          </a:p>
          <a:p>
            <a:pPr marL="696802" lvl="1" indent="-348401" algn="just">
              <a:lnSpc>
                <a:spcPts val="4518"/>
              </a:lnSpc>
              <a:buFont typeface="Arial"/>
              <a:buChar char="•"/>
            </a:pPr>
            <a:r>
              <a:rPr lang="en-US" sz="3227">
                <a:solidFill>
                  <a:srgbClr val="000000"/>
                </a:solidFill>
                <a:latin typeface="Noto Sans"/>
                <a:ea typeface="Noto Sans"/>
                <a:cs typeface="Noto Sans"/>
                <a:sym typeface="Noto Sans"/>
              </a:rPr>
              <a:t>Pin Lithium 18650 3.7-4.2V để cấp điện cho sản phẩm.</a:t>
            </a:r>
          </a:p>
          <a:p>
            <a:pPr marL="696802" lvl="1" indent="-348401" algn="just">
              <a:lnSpc>
                <a:spcPts val="4518"/>
              </a:lnSpc>
              <a:buFont typeface="Arial"/>
              <a:buChar char="•"/>
            </a:pPr>
            <a:r>
              <a:rPr lang="en-US" sz="3227">
                <a:solidFill>
                  <a:srgbClr val="000000"/>
                </a:solidFill>
                <a:latin typeface="Noto Sans"/>
                <a:ea typeface="Noto Sans"/>
                <a:cs typeface="Noto Sans"/>
                <a:sym typeface="Noto Sans"/>
              </a:rPr>
              <a:t>Băng keo 2 mặt để cố định các cảm biến tại các vị trí phù hợp:</a:t>
            </a:r>
          </a:p>
          <a:p>
            <a:pPr marL="1393604" lvl="2" indent="-464535" algn="just">
              <a:lnSpc>
                <a:spcPts val="4518"/>
              </a:lnSpc>
              <a:buFont typeface="Arial"/>
              <a:buChar char="⚬"/>
            </a:pPr>
            <a:r>
              <a:rPr lang="en-US" sz="3227" u="sng">
                <a:solidFill>
                  <a:srgbClr val="000000"/>
                </a:solidFill>
                <a:latin typeface="Noto Sans"/>
                <a:ea typeface="Noto Sans"/>
                <a:cs typeface="Noto Sans"/>
                <a:sym typeface="Noto Sans"/>
              </a:rPr>
              <a:t>Cảm biến chính</a:t>
            </a:r>
            <a:r>
              <a:rPr lang="en-US" sz="3227">
                <a:solidFill>
                  <a:srgbClr val="000000"/>
                </a:solidFill>
                <a:latin typeface="Noto Sans"/>
                <a:ea typeface="Noto Sans"/>
                <a:cs typeface="Noto Sans"/>
                <a:sym typeface="Noto Sans"/>
              </a:rPr>
              <a:t> đặt trên thành hồ cây.</a:t>
            </a:r>
          </a:p>
          <a:p>
            <a:pPr marL="1393604" lvl="2" indent="-464535" algn="just">
              <a:lnSpc>
                <a:spcPts val="4518"/>
              </a:lnSpc>
              <a:buFont typeface="Arial"/>
              <a:buChar char="⚬"/>
            </a:pPr>
            <a:r>
              <a:rPr lang="en-US" sz="3227" u="sng">
                <a:solidFill>
                  <a:srgbClr val="000000"/>
                </a:solidFill>
                <a:latin typeface="Noto Sans"/>
                <a:ea typeface="Noto Sans"/>
                <a:cs typeface="Noto Sans"/>
                <a:sym typeface="Noto Sans"/>
              </a:rPr>
              <a:t>Cảm biến đo lượng nước</a:t>
            </a:r>
            <a:r>
              <a:rPr lang="en-US" sz="3227">
                <a:solidFill>
                  <a:srgbClr val="000000"/>
                </a:solidFill>
                <a:latin typeface="Noto Sans"/>
                <a:ea typeface="Noto Sans"/>
                <a:cs typeface="Noto Sans"/>
                <a:sym typeface="Noto Sans"/>
              </a:rPr>
              <a:t> gắn trên thành bể chứa nước.</a:t>
            </a:r>
          </a:p>
          <a:p>
            <a:pPr marL="1393604" lvl="2" indent="-464535" algn="just">
              <a:lnSpc>
                <a:spcPts val="4518"/>
              </a:lnSpc>
              <a:buFont typeface="Arial"/>
              <a:buChar char="⚬"/>
            </a:pPr>
            <a:r>
              <a:rPr lang="en-US" sz="3227" u="sng">
                <a:solidFill>
                  <a:srgbClr val="000000"/>
                </a:solidFill>
                <a:latin typeface="Noto Sans"/>
                <a:ea typeface="Noto Sans"/>
                <a:cs typeface="Noto Sans"/>
                <a:sym typeface="Noto Sans"/>
              </a:rPr>
              <a:t>Cảm biến nhiệt độ và độ ẩm</a:t>
            </a:r>
            <a:r>
              <a:rPr lang="en-US" sz="3227">
                <a:solidFill>
                  <a:srgbClr val="000000"/>
                </a:solidFill>
                <a:latin typeface="Noto Sans"/>
                <a:ea typeface="Noto Sans"/>
                <a:cs typeface="Noto Sans"/>
                <a:sym typeface="Noto Sans"/>
              </a:rPr>
              <a:t> đặt gần cây trồng.</a:t>
            </a:r>
          </a:p>
          <a:p>
            <a:pPr algn="just">
              <a:lnSpc>
                <a:spcPts val="4518"/>
              </a:lnSpc>
            </a:pPr>
            <a:endParaRPr lang="en-US" sz="3227">
              <a:solidFill>
                <a:srgbClr val="000000"/>
              </a:solidFill>
              <a:latin typeface="Noto Sans"/>
              <a:ea typeface="Noto Sans"/>
              <a:cs typeface="Noto Sans"/>
              <a:sym typeface="Noto Sans"/>
            </a:endParaRPr>
          </a:p>
        </p:txBody>
      </p:sp>
      <p:sp>
        <p:nvSpPr>
          <p:cNvPr id="13" name="Freeform 13"/>
          <p:cNvSpPr/>
          <p:nvPr/>
        </p:nvSpPr>
        <p:spPr>
          <a:xfrm>
            <a:off x="13638892" y="5105411"/>
            <a:ext cx="3620408" cy="4667247"/>
          </a:xfrm>
          <a:custGeom>
            <a:avLst/>
            <a:gdLst/>
            <a:ahLst/>
            <a:cxnLst/>
            <a:rect l="l" t="t" r="r" b="b"/>
            <a:pathLst>
              <a:path w="3620408" h="4667247">
                <a:moveTo>
                  <a:pt x="0" y="0"/>
                </a:moveTo>
                <a:lnTo>
                  <a:pt x="3620408" y="0"/>
                </a:lnTo>
                <a:lnTo>
                  <a:pt x="3620408" y="4667247"/>
                </a:lnTo>
                <a:lnTo>
                  <a:pt x="0" y="46672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TextBox 14"/>
          <p:cNvSpPr txBox="1"/>
          <p:nvPr/>
        </p:nvSpPr>
        <p:spPr>
          <a:xfrm>
            <a:off x="1464394" y="699463"/>
            <a:ext cx="9864261" cy="1035688"/>
          </a:xfrm>
          <a:prstGeom prst="rect">
            <a:avLst/>
          </a:prstGeom>
        </p:spPr>
        <p:txBody>
          <a:bodyPr wrap="square" lIns="0" tIns="0" rIns="0" bIns="0" rtlCol="0" anchor="t">
            <a:spAutoFit/>
          </a:bodyPr>
          <a:lstStyle/>
          <a:p>
            <a:pPr>
              <a:lnSpc>
                <a:spcPts val="8539"/>
              </a:lnSpc>
              <a:spcBef>
                <a:spcPct val="0"/>
              </a:spcBef>
            </a:pPr>
            <a:r>
              <a:rPr lang="en-US" sz="6099" b="1" dirty="0" err="1">
                <a:solidFill>
                  <a:srgbClr val="000000"/>
                </a:solidFill>
                <a:latin typeface="Muli Bold"/>
                <a:ea typeface="Muli Bold"/>
                <a:cs typeface="Muli Bold"/>
                <a:sym typeface="Muli Bold"/>
              </a:rPr>
              <a:t>Tổng</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quan</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sản</a:t>
            </a:r>
            <a:r>
              <a:rPr lang="en-US" sz="6099" b="1" dirty="0">
                <a:solidFill>
                  <a:srgbClr val="000000"/>
                </a:solidFill>
                <a:latin typeface="Muli Bold"/>
                <a:ea typeface="Muli Bold"/>
                <a:cs typeface="Muli Bold"/>
                <a:sym typeface="Muli Bold"/>
              </a:rPr>
              <a:t> </a:t>
            </a:r>
            <a:r>
              <a:rPr lang="en-US" sz="6099" b="1" dirty="0" err="1">
                <a:solidFill>
                  <a:srgbClr val="000000"/>
                </a:solidFill>
                <a:latin typeface="Muli Bold"/>
                <a:ea typeface="Muli Bold"/>
                <a:cs typeface="Muli Bold"/>
                <a:sym typeface="Muli Bold"/>
              </a:rPr>
              <a:t>phẩm</a:t>
            </a:r>
            <a:endParaRPr lang="en-US" sz="6099" b="1" dirty="0">
              <a:solidFill>
                <a:srgbClr val="000000"/>
              </a:solidFill>
              <a:latin typeface="Muli Bold"/>
              <a:ea typeface="Muli Bold"/>
              <a:cs typeface="Muli Bold"/>
              <a:sym typeface="Muli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151770" y="4201140"/>
            <a:ext cx="7027514" cy="608586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4778677" y="-533331"/>
            <a:ext cx="4961246" cy="4296462"/>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028700" y="1028700"/>
            <a:ext cx="4212844" cy="586200"/>
            <a:chOff x="0" y="0"/>
            <a:chExt cx="5617125" cy="781600"/>
          </a:xfrm>
        </p:grpSpPr>
        <p:sp>
          <p:nvSpPr>
            <p:cNvPr id="7" name="TextBox 7"/>
            <p:cNvSpPr txBox="1"/>
            <p:nvPr/>
          </p:nvSpPr>
          <p:spPr>
            <a:xfrm>
              <a:off x="1293956" y="104415"/>
              <a:ext cx="4323169" cy="525145"/>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Muli Bold"/>
                  <a:ea typeface="Muli Bold"/>
                  <a:cs typeface="Muli Bold"/>
                  <a:sym typeface="Muli Bold"/>
                </a:rPr>
                <a:t>Nhóm 6</a:t>
              </a:r>
            </a:p>
          </p:txBody>
        </p:sp>
        <p:sp>
          <p:nvSpPr>
            <p:cNvPr id="8" name="Freeform 8"/>
            <p:cNvSpPr/>
            <p:nvPr/>
          </p:nvSpPr>
          <p:spPr>
            <a:xfrm>
              <a:off x="0" y="0"/>
              <a:ext cx="905010" cy="781600"/>
            </a:xfrm>
            <a:custGeom>
              <a:avLst/>
              <a:gdLst/>
              <a:ahLst/>
              <a:cxnLst/>
              <a:rect l="l" t="t" r="r" b="b"/>
              <a:pathLst>
                <a:path w="905010" h="781600">
                  <a:moveTo>
                    <a:pt x="0" y="0"/>
                  </a:moveTo>
                  <a:lnTo>
                    <a:pt x="905010" y="0"/>
                  </a:lnTo>
                  <a:lnTo>
                    <a:pt x="905010" y="781600"/>
                  </a:lnTo>
                  <a:lnTo>
                    <a:pt x="0" y="781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9" name="Group 9"/>
          <p:cNvGrpSpPr/>
          <p:nvPr/>
        </p:nvGrpSpPr>
        <p:grpSpPr>
          <a:xfrm>
            <a:off x="12015850" y="2857371"/>
            <a:ext cx="7027514" cy="6085860"/>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1" name="Group 11"/>
          <p:cNvGrpSpPr>
            <a:grpSpLocks noChangeAspect="1"/>
          </p:cNvGrpSpPr>
          <p:nvPr/>
        </p:nvGrpSpPr>
        <p:grpSpPr>
          <a:xfrm>
            <a:off x="10676454" y="2120110"/>
            <a:ext cx="7611546" cy="6591255"/>
            <a:chOff x="0" y="0"/>
            <a:chExt cx="4282440" cy="3708400"/>
          </a:xfrm>
        </p:grpSpPr>
        <p:sp>
          <p:nvSpPr>
            <p:cNvPr id="12" name="Freeform 12"/>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1787" t="-1299" r="-3978" b="-6244"/>
              </a:stretch>
            </a:blipFill>
          </p:spPr>
          <p:txBody>
            <a:bodyPr/>
            <a:lstStyle/>
            <a:p>
              <a:endParaRPr lang="en-US"/>
            </a:p>
          </p:txBody>
        </p:sp>
      </p:grpSp>
      <p:grpSp>
        <p:nvGrpSpPr>
          <p:cNvPr id="13" name="Group 13"/>
          <p:cNvGrpSpPr/>
          <p:nvPr/>
        </p:nvGrpSpPr>
        <p:grpSpPr>
          <a:xfrm>
            <a:off x="707482" y="3377182"/>
            <a:ext cx="8436518" cy="4077111"/>
            <a:chOff x="0" y="0"/>
            <a:chExt cx="11248690" cy="5436148"/>
          </a:xfrm>
        </p:grpSpPr>
        <p:sp>
          <p:nvSpPr>
            <p:cNvPr id="14" name="TextBox 14"/>
            <p:cNvSpPr txBox="1"/>
            <p:nvPr/>
          </p:nvSpPr>
          <p:spPr>
            <a:xfrm>
              <a:off x="0" y="0"/>
              <a:ext cx="11248690" cy="3937000"/>
            </a:xfrm>
            <a:prstGeom prst="rect">
              <a:avLst/>
            </a:prstGeom>
          </p:spPr>
          <p:txBody>
            <a:bodyPr lIns="0" tIns="0" rIns="0" bIns="0" rtlCol="0" anchor="t">
              <a:spAutoFit/>
            </a:bodyPr>
            <a:lstStyle/>
            <a:p>
              <a:pPr algn="l">
                <a:lnSpc>
                  <a:spcPts val="11639"/>
                </a:lnSpc>
                <a:spcBef>
                  <a:spcPct val="0"/>
                </a:spcBef>
              </a:pPr>
              <a:r>
                <a:rPr lang="en-US" sz="9699" b="1" spc="-96">
                  <a:solidFill>
                    <a:srgbClr val="000000"/>
                  </a:solidFill>
                  <a:latin typeface="Muli Bold"/>
                  <a:ea typeface="Muli Bold"/>
                  <a:cs typeface="Muli Bold"/>
                  <a:sym typeface="Muli Bold"/>
                </a:rPr>
                <a:t>CHỨC NĂNG SẢN PHẨM</a:t>
              </a:r>
            </a:p>
          </p:txBody>
        </p:sp>
        <p:sp>
          <p:nvSpPr>
            <p:cNvPr id="15" name="TextBox 15"/>
            <p:cNvSpPr txBox="1"/>
            <p:nvPr/>
          </p:nvSpPr>
          <p:spPr>
            <a:xfrm>
              <a:off x="0" y="4153024"/>
              <a:ext cx="10077401" cy="1283124"/>
            </a:xfrm>
            <a:prstGeom prst="rect">
              <a:avLst/>
            </a:prstGeom>
          </p:spPr>
          <p:txBody>
            <a:bodyPr lIns="0" tIns="0" rIns="0" bIns="0" rtlCol="0" anchor="t">
              <a:spAutoFit/>
            </a:bodyPr>
            <a:lstStyle/>
            <a:p>
              <a:pPr marL="604518" lvl="1" indent="-302259" algn="l">
                <a:lnSpc>
                  <a:spcPts val="3919"/>
                </a:lnSpc>
                <a:buFont typeface="Arial"/>
                <a:buChar char="•"/>
              </a:pPr>
              <a:r>
                <a:rPr lang="en-US" sz="2799" b="1">
                  <a:solidFill>
                    <a:srgbClr val="000000"/>
                  </a:solidFill>
                  <a:latin typeface="Muli Bold"/>
                  <a:ea typeface="Muli Bold"/>
                  <a:cs typeface="Muli Bold"/>
                  <a:sym typeface="Muli Bold"/>
                </a:rPr>
                <a:t>Sản phẩm thiết bị</a:t>
              </a:r>
            </a:p>
            <a:p>
              <a:pPr marL="604518" lvl="1" indent="-302259" algn="l">
                <a:lnSpc>
                  <a:spcPts val="3919"/>
                </a:lnSpc>
                <a:buFont typeface="Arial"/>
                <a:buChar char="•"/>
              </a:pPr>
              <a:r>
                <a:rPr lang="en-US" sz="2799" b="1">
                  <a:solidFill>
                    <a:srgbClr val="000000"/>
                  </a:solidFill>
                  <a:latin typeface="Muli Bold"/>
                  <a:ea typeface="Muli Bold"/>
                  <a:cs typeface="Muli Bold"/>
                  <a:sym typeface="Muli Bold"/>
                </a:rPr>
                <a:t>Web</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976734" y="576132"/>
            <a:ext cx="4985461" cy="4317433"/>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185622" y="-1043203"/>
            <a:ext cx="3480308" cy="3013963"/>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6" name="Group 6"/>
          <p:cNvGrpSpPr/>
          <p:nvPr/>
        </p:nvGrpSpPr>
        <p:grpSpPr>
          <a:xfrm>
            <a:off x="15460722" y="3806161"/>
            <a:ext cx="1798578" cy="1557577"/>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8" name="Group 8"/>
          <p:cNvGrpSpPr/>
          <p:nvPr/>
        </p:nvGrpSpPr>
        <p:grpSpPr>
          <a:xfrm>
            <a:off x="15780269" y="-434151"/>
            <a:ext cx="3378391" cy="2925703"/>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10" name="Freeform 10"/>
          <p:cNvSpPr/>
          <p:nvPr/>
        </p:nvSpPr>
        <p:spPr>
          <a:xfrm rot="6655824">
            <a:off x="7414206" y="787758"/>
            <a:ext cx="2930525" cy="3407588"/>
          </a:xfrm>
          <a:custGeom>
            <a:avLst/>
            <a:gdLst/>
            <a:ahLst/>
            <a:cxnLst/>
            <a:rect l="l" t="t" r="r" b="b"/>
            <a:pathLst>
              <a:path w="2930525" h="3407588">
                <a:moveTo>
                  <a:pt x="0" y="0"/>
                </a:moveTo>
                <a:lnTo>
                  <a:pt x="2930525" y="0"/>
                </a:lnTo>
                <a:lnTo>
                  <a:pt x="2930525" y="3407587"/>
                </a:lnTo>
                <a:lnTo>
                  <a:pt x="0" y="34075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9278575" y="4468781"/>
            <a:ext cx="1448409" cy="2737543"/>
          </a:xfrm>
          <a:custGeom>
            <a:avLst/>
            <a:gdLst/>
            <a:ahLst/>
            <a:cxnLst/>
            <a:rect l="l" t="t" r="r" b="b"/>
            <a:pathLst>
              <a:path w="1448409" h="2737543">
                <a:moveTo>
                  <a:pt x="0" y="0"/>
                </a:moveTo>
                <a:lnTo>
                  <a:pt x="1448409" y="0"/>
                </a:lnTo>
                <a:lnTo>
                  <a:pt x="1448409" y="2737543"/>
                </a:lnTo>
                <a:lnTo>
                  <a:pt x="0" y="27375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TextBox 12"/>
          <p:cNvSpPr txBox="1"/>
          <p:nvPr/>
        </p:nvSpPr>
        <p:spPr>
          <a:xfrm>
            <a:off x="1038848" y="6987602"/>
            <a:ext cx="8105152" cy="16991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Sử dụng </a:t>
            </a:r>
            <a:r>
              <a:rPr lang="en-US" sz="3227" b="1">
                <a:solidFill>
                  <a:srgbClr val="000000"/>
                </a:solidFill>
                <a:latin typeface="Noto Sans Bold"/>
                <a:ea typeface="Noto Sans Bold"/>
                <a:cs typeface="Noto Sans Bold"/>
                <a:sym typeface="Noto Sans Bold"/>
              </a:rPr>
              <a:t>PIR HC-SR501</a:t>
            </a:r>
            <a:r>
              <a:rPr lang="en-US" sz="3227">
                <a:solidFill>
                  <a:srgbClr val="000000"/>
                </a:solidFill>
                <a:latin typeface="Noto Sans"/>
                <a:ea typeface="Noto Sans"/>
                <a:cs typeface="Noto Sans"/>
                <a:sym typeface="Noto Sans"/>
              </a:rPr>
              <a:t> để cảm biến phát hiện chuyển động của các vật thể trong khu vực gần hệ thống. </a:t>
            </a:r>
          </a:p>
        </p:txBody>
      </p:sp>
      <p:grpSp>
        <p:nvGrpSpPr>
          <p:cNvPr id="13" name="Group 13"/>
          <p:cNvGrpSpPr/>
          <p:nvPr/>
        </p:nvGrpSpPr>
        <p:grpSpPr>
          <a:xfrm>
            <a:off x="-1488889" y="8313089"/>
            <a:ext cx="2977778" cy="2578770"/>
            <a:chOff x="0" y="0"/>
            <a:chExt cx="3619627" cy="3134614"/>
          </a:xfrm>
        </p:grpSpPr>
        <p:sp>
          <p:nvSpPr>
            <p:cNvPr id="14" name="Freeform 1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5" name="Group 15"/>
          <p:cNvGrpSpPr/>
          <p:nvPr/>
        </p:nvGrpSpPr>
        <p:grpSpPr>
          <a:xfrm>
            <a:off x="392214" y="9116623"/>
            <a:ext cx="2481390" cy="2148895"/>
            <a:chOff x="0" y="0"/>
            <a:chExt cx="3619627" cy="3134614"/>
          </a:xfrm>
        </p:grpSpPr>
        <p:sp>
          <p:nvSpPr>
            <p:cNvPr id="16" name="Freeform 1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7" name="Freeform 17"/>
          <p:cNvSpPr/>
          <p:nvPr/>
        </p:nvSpPr>
        <p:spPr>
          <a:xfrm>
            <a:off x="12840354" y="6678188"/>
            <a:ext cx="4418946" cy="2008612"/>
          </a:xfrm>
          <a:custGeom>
            <a:avLst/>
            <a:gdLst/>
            <a:ahLst/>
            <a:cxnLst/>
            <a:rect l="l" t="t" r="r" b="b"/>
            <a:pathLst>
              <a:path w="4418946" h="2008612">
                <a:moveTo>
                  <a:pt x="0" y="0"/>
                </a:moveTo>
                <a:lnTo>
                  <a:pt x="4418946" y="0"/>
                </a:lnTo>
                <a:lnTo>
                  <a:pt x="4418946" y="2008612"/>
                </a:lnTo>
                <a:lnTo>
                  <a:pt x="0" y="20086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TextBox 18"/>
          <p:cNvSpPr txBox="1"/>
          <p:nvPr/>
        </p:nvSpPr>
        <p:spPr>
          <a:xfrm>
            <a:off x="1028700" y="1038225"/>
            <a:ext cx="5512745" cy="1276350"/>
          </a:xfrm>
          <a:prstGeom prst="rect">
            <a:avLst/>
          </a:prstGeom>
        </p:spPr>
        <p:txBody>
          <a:bodyPr lIns="0" tIns="0" rIns="0" bIns="0" rtlCol="0" anchor="t">
            <a:spAutoFit/>
          </a:bodyPr>
          <a:lstStyle/>
          <a:p>
            <a:pPr algn="l">
              <a:lnSpc>
                <a:spcPts val="10199"/>
              </a:lnSpc>
              <a:spcBef>
                <a:spcPct val="0"/>
              </a:spcBef>
            </a:pPr>
            <a:r>
              <a:rPr lang="en-US" sz="8499" b="1" spc="-84" dirty="0" err="1">
                <a:solidFill>
                  <a:srgbClr val="000000"/>
                </a:solidFill>
                <a:latin typeface="Muli Bold"/>
                <a:ea typeface="Muli Bold"/>
                <a:cs typeface="Muli Bold"/>
                <a:sym typeface="Muli Bold"/>
              </a:rPr>
              <a:t>Thiết</a:t>
            </a:r>
            <a:r>
              <a:rPr lang="en-US" sz="8499" b="1" spc="-84" dirty="0">
                <a:solidFill>
                  <a:srgbClr val="000000"/>
                </a:solidFill>
                <a:latin typeface="Muli Bold"/>
                <a:ea typeface="Muli Bold"/>
                <a:cs typeface="Muli Bold"/>
                <a:sym typeface="Muli Bold"/>
              </a:rPr>
              <a:t> </a:t>
            </a:r>
            <a:r>
              <a:rPr lang="en-US" sz="8499" b="1" spc="-84" dirty="0" err="1">
                <a:solidFill>
                  <a:srgbClr val="000000"/>
                </a:solidFill>
                <a:latin typeface="Muli Bold"/>
                <a:ea typeface="Muli Bold"/>
                <a:cs typeface="Muli Bold"/>
                <a:sym typeface="Muli Bold"/>
              </a:rPr>
              <a:t>bị</a:t>
            </a:r>
            <a:endParaRPr lang="en-US" sz="8499" b="1" spc="-84" dirty="0">
              <a:solidFill>
                <a:srgbClr val="000000"/>
              </a:solidFill>
              <a:latin typeface="Muli Bold"/>
              <a:ea typeface="Muli Bold"/>
              <a:cs typeface="Muli Bold"/>
              <a:sym typeface="Muli Bold"/>
            </a:endParaRPr>
          </a:p>
        </p:txBody>
      </p:sp>
      <p:sp>
        <p:nvSpPr>
          <p:cNvPr id="19" name="TextBox 19"/>
          <p:cNvSpPr txBox="1"/>
          <p:nvPr/>
        </p:nvSpPr>
        <p:spPr>
          <a:xfrm>
            <a:off x="10315006" y="2152404"/>
            <a:ext cx="4610770" cy="3211334"/>
          </a:xfrm>
          <a:prstGeom prst="rect">
            <a:avLst/>
          </a:prstGeom>
        </p:spPr>
        <p:txBody>
          <a:bodyPr lIns="0" tIns="0" rIns="0" bIns="0" rtlCol="0" anchor="t">
            <a:spAutoFit/>
          </a:bodyPr>
          <a:lstStyle/>
          <a:p>
            <a:pPr algn="r">
              <a:lnSpc>
                <a:spcPts val="5172"/>
              </a:lnSpc>
            </a:pPr>
            <a:r>
              <a:rPr lang="en-US" sz="3694" b="1" i="1">
                <a:solidFill>
                  <a:srgbClr val="000000"/>
                </a:solidFill>
                <a:latin typeface="Noto Sans Bold Italics"/>
                <a:ea typeface="Noto Sans Bold Italics"/>
                <a:cs typeface="Noto Sans Bold Italics"/>
                <a:sym typeface="Noto Sans Bold Italics"/>
              </a:rPr>
              <a:t>Cảm biến nhiệt độ và độ ẩm</a:t>
            </a:r>
          </a:p>
          <a:p>
            <a:pPr algn="r">
              <a:lnSpc>
                <a:spcPts val="5172"/>
              </a:lnSpc>
            </a:pPr>
            <a:endParaRPr lang="en-US" sz="3694" b="1" i="1">
              <a:solidFill>
                <a:srgbClr val="000000"/>
              </a:solidFill>
              <a:latin typeface="Noto Sans Bold Italics"/>
              <a:ea typeface="Noto Sans Bold Italics"/>
              <a:cs typeface="Noto Sans Bold Italics"/>
              <a:sym typeface="Noto Sans Bold Italics"/>
            </a:endParaRPr>
          </a:p>
          <a:p>
            <a:pPr algn="r">
              <a:lnSpc>
                <a:spcPts val="5172"/>
              </a:lnSpc>
            </a:pPr>
            <a:r>
              <a:rPr lang="en-US" sz="3694" b="1" i="1">
                <a:solidFill>
                  <a:srgbClr val="000000"/>
                </a:solidFill>
                <a:latin typeface="Noto Sans Bold Italics"/>
                <a:ea typeface="Noto Sans Bold Italics"/>
                <a:cs typeface="Noto Sans Bold Italics"/>
                <a:sym typeface="Noto Sans Bold Italics"/>
              </a:rPr>
              <a:t>Cảm biến hồng ngoại</a:t>
            </a:r>
          </a:p>
        </p:txBody>
      </p:sp>
      <p:sp>
        <p:nvSpPr>
          <p:cNvPr id="20" name="TextBox 20"/>
          <p:cNvSpPr txBox="1"/>
          <p:nvPr/>
        </p:nvSpPr>
        <p:spPr>
          <a:xfrm>
            <a:off x="1038848" y="3974813"/>
            <a:ext cx="8105152" cy="22706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Sử dụng </a:t>
            </a:r>
            <a:r>
              <a:rPr lang="en-US" sz="3227" b="1">
                <a:solidFill>
                  <a:srgbClr val="000000"/>
                </a:solidFill>
                <a:latin typeface="Noto Sans Bold"/>
                <a:ea typeface="Noto Sans Bold"/>
                <a:cs typeface="Noto Sans Bold"/>
                <a:sym typeface="Noto Sans Bold"/>
              </a:rPr>
              <a:t>DHT11</a:t>
            </a:r>
            <a:r>
              <a:rPr lang="en-US" sz="3227">
                <a:solidFill>
                  <a:srgbClr val="000000"/>
                </a:solidFill>
                <a:latin typeface="Noto Sans"/>
                <a:ea typeface="Noto Sans"/>
                <a:cs typeface="Noto Sans"/>
                <a:sym typeface="Noto Sans"/>
              </a:rPr>
              <a:t> đo nhiệt độ và độ ẩm không khí xung quanh cây, giúp người dùng giám sát và điều chỉnh môi trường để tối ưu hóa điều kiện phát triển cho cây.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028700" y="1038225"/>
            <a:ext cx="5512745" cy="1276350"/>
          </a:xfrm>
          <a:prstGeom prst="rect">
            <a:avLst/>
          </a:prstGeom>
        </p:spPr>
        <p:txBody>
          <a:bodyPr lIns="0" tIns="0" rIns="0" bIns="0" rtlCol="0" anchor="t">
            <a:spAutoFit/>
          </a:bodyPr>
          <a:lstStyle/>
          <a:p>
            <a:pPr algn="l">
              <a:lnSpc>
                <a:spcPts val="10199"/>
              </a:lnSpc>
              <a:spcBef>
                <a:spcPct val="0"/>
              </a:spcBef>
            </a:pPr>
            <a:r>
              <a:rPr lang="en-US" sz="8499" b="1" spc="-84" dirty="0" err="1">
                <a:solidFill>
                  <a:srgbClr val="000000"/>
                </a:solidFill>
                <a:latin typeface="Muli Bold"/>
                <a:ea typeface="Muli Bold"/>
                <a:cs typeface="Muli Bold"/>
                <a:sym typeface="Muli Bold"/>
              </a:rPr>
              <a:t>Thiết</a:t>
            </a:r>
            <a:r>
              <a:rPr lang="en-US" sz="8499" b="1" spc="-84" dirty="0">
                <a:solidFill>
                  <a:srgbClr val="000000"/>
                </a:solidFill>
                <a:latin typeface="Muli Bold"/>
                <a:ea typeface="Muli Bold"/>
                <a:cs typeface="Muli Bold"/>
                <a:sym typeface="Muli Bold"/>
              </a:rPr>
              <a:t> </a:t>
            </a:r>
            <a:r>
              <a:rPr lang="en-US" sz="8499" b="1" spc="-84" dirty="0" err="1">
                <a:solidFill>
                  <a:srgbClr val="000000"/>
                </a:solidFill>
                <a:latin typeface="Muli Bold"/>
                <a:ea typeface="Muli Bold"/>
                <a:cs typeface="Muli Bold"/>
                <a:sym typeface="Muli Bold"/>
              </a:rPr>
              <a:t>bị</a:t>
            </a:r>
            <a:endParaRPr lang="en-US" sz="8499" b="1" spc="-84" dirty="0">
              <a:solidFill>
                <a:srgbClr val="000000"/>
              </a:solidFill>
              <a:latin typeface="Muli Bold"/>
              <a:ea typeface="Muli Bold"/>
              <a:cs typeface="Muli Bold"/>
              <a:sym typeface="Muli Bold"/>
            </a:endParaRPr>
          </a:p>
        </p:txBody>
      </p:sp>
      <p:grpSp>
        <p:nvGrpSpPr>
          <p:cNvPr id="3" name="Group 3"/>
          <p:cNvGrpSpPr/>
          <p:nvPr/>
        </p:nvGrpSpPr>
        <p:grpSpPr>
          <a:xfrm>
            <a:off x="-2023948" y="6939668"/>
            <a:ext cx="4985461" cy="4317433"/>
            <a:chOff x="0" y="0"/>
            <a:chExt cx="3619627" cy="3134614"/>
          </a:xfrm>
        </p:grpSpPr>
        <p:sp>
          <p:nvSpPr>
            <p:cNvPr id="4" name="Freeform 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5" name="Group 5"/>
          <p:cNvGrpSpPr/>
          <p:nvPr/>
        </p:nvGrpSpPr>
        <p:grpSpPr>
          <a:xfrm>
            <a:off x="1620440" y="7514944"/>
            <a:ext cx="3480308" cy="3013963"/>
            <a:chOff x="0" y="0"/>
            <a:chExt cx="3619627" cy="3134614"/>
          </a:xfrm>
        </p:grpSpPr>
        <p:sp>
          <p:nvSpPr>
            <p:cNvPr id="6" name="Freeform 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7" name="Group 7"/>
          <p:cNvGrpSpPr/>
          <p:nvPr/>
        </p:nvGrpSpPr>
        <p:grpSpPr>
          <a:xfrm>
            <a:off x="4201459" y="9098384"/>
            <a:ext cx="1798578" cy="1557577"/>
            <a:chOff x="0" y="0"/>
            <a:chExt cx="3619627" cy="3134614"/>
          </a:xfrm>
        </p:grpSpPr>
        <p:sp>
          <p:nvSpPr>
            <p:cNvPr id="8" name="Freeform 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9" name="Group 9"/>
          <p:cNvGrpSpPr/>
          <p:nvPr/>
        </p:nvGrpSpPr>
        <p:grpSpPr>
          <a:xfrm>
            <a:off x="-2023948" y="4748624"/>
            <a:ext cx="3378391" cy="2925703"/>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11" name="TextBox 11"/>
          <p:cNvSpPr txBox="1"/>
          <p:nvPr/>
        </p:nvSpPr>
        <p:spPr>
          <a:xfrm>
            <a:off x="1765618" y="2988117"/>
            <a:ext cx="4610770" cy="2563634"/>
          </a:xfrm>
          <a:prstGeom prst="rect">
            <a:avLst/>
          </a:prstGeom>
        </p:spPr>
        <p:txBody>
          <a:bodyPr lIns="0" tIns="0" rIns="0" bIns="0" rtlCol="0" anchor="t">
            <a:spAutoFit/>
          </a:bodyPr>
          <a:lstStyle/>
          <a:p>
            <a:pPr algn="r">
              <a:lnSpc>
                <a:spcPts val="5172"/>
              </a:lnSpc>
            </a:pPr>
            <a:r>
              <a:rPr lang="en-US" sz="3694" b="1" i="1">
                <a:solidFill>
                  <a:srgbClr val="000000"/>
                </a:solidFill>
                <a:latin typeface="Noto Sans Bold Italics"/>
                <a:ea typeface="Noto Sans Bold Italics"/>
                <a:cs typeface="Noto Sans Bold Italics"/>
                <a:sym typeface="Noto Sans Bold Italics"/>
              </a:rPr>
              <a:t>Động cơ Servo</a:t>
            </a:r>
          </a:p>
          <a:p>
            <a:pPr algn="r">
              <a:lnSpc>
                <a:spcPts val="5172"/>
              </a:lnSpc>
            </a:pPr>
            <a:endParaRPr lang="en-US" sz="3694" b="1" i="1">
              <a:solidFill>
                <a:srgbClr val="000000"/>
              </a:solidFill>
              <a:latin typeface="Noto Sans Bold Italics"/>
              <a:ea typeface="Noto Sans Bold Italics"/>
              <a:cs typeface="Noto Sans Bold Italics"/>
              <a:sym typeface="Noto Sans Bold Italics"/>
            </a:endParaRPr>
          </a:p>
          <a:p>
            <a:pPr algn="r">
              <a:lnSpc>
                <a:spcPts val="5172"/>
              </a:lnSpc>
            </a:pPr>
            <a:r>
              <a:rPr lang="en-US" sz="3694" b="1" i="1">
                <a:solidFill>
                  <a:srgbClr val="000000"/>
                </a:solidFill>
                <a:latin typeface="Noto Sans Bold Italics"/>
                <a:ea typeface="Noto Sans Bold Italics"/>
                <a:cs typeface="Noto Sans Bold Italics"/>
                <a:sym typeface="Noto Sans Bold Italics"/>
              </a:rPr>
              <a:t>Cảm biến độ ẩm trong đất</a:t>
            </a:r>
          </a:p>
        </p:txBody>
      </p:sp>
      <p:sp>
        <p:nvSpPr>
          <p:cNvPr id="12" name="TextBox 12"/>
          <p:cNvSpPr txBox="1"/>
          <p:nvPr/>
        </p:nvSpPr>
        <p:spPr>
          <a:xfrm>
            <a:off x="9605612" y="1431638"/>
            <a:ext cx="8105152" cy="16991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Động cơ Servo tích hợp 1 tay quay hỗ trợ xua đuổi côn trùng gây hại cho cây (ví dụ như: Bọ cánh cứng, bướm...)</a:t>
            </a:r>
          </a:p>
        </p:txBody>
      </p:sp>
      <p:sp>
        <p:nvSpPr>
          <p:cNvPr id="13" name="Freeform 13"/>
          <p:cNvSpPr/>
          <p:nvPr/>
        </p:nvSpPr>
        <p:spPr>
          <a:xfrm rot="-8100000">
            <a:off x="7199047" y="1275963"/>
            <a:ext cx="1448409" cy="2737543"/>
          </a:xfrm>
          <a:custGeom>
            <a:avLst/>
            <a:gdLst/>
            <a:ahLst/>
            <a:cxnLst/>
            <a:rect l="l" t="t" r="r" b="b"/>
            <a:pathLst>
              <a:path w="1448409" h="2737543">
                <a:moveTo>
                  <a:pt x="0" y="0"/>
                </a:moveTo>
                <a:lnTo>
                  <a:pt x="1448410" y="0"/>
                </a:lnTo>
                <a:lnTo>
                  <a:pt x="1448410" y="2737543"/>
                </a:lnTo>
                <a:lnTo>
                  <a:pt x="0" y="27375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p:cNvSpPr/>
          <p:nvPr/>
        </p:nvSpPr>
        <p:spPr>
          <a:xfrm rot="-2474768">
            <a:off x="5453726" y="4907744"/>
            <a:ext cx="2930525" cy="3407588"/>
          </a:xfrm>
          <a:custGeom>
            <a:avLst/>
            <a:gdLst/>
            <a:ahLst/>
            <a:cxnLst/>
            <a:rect l="l" t="t" r="r" b="b"/>
            <a:pathLst>
              <a:path w="2930525" h="3407588">
                <a:moveTo>
                  <a:pt x="0" y="0"/>
                </a:moveTo>
                <a:lnTo>
                  <a:pt x="2930526" y="0"/>
                </a:lnTo>
                <a:lnTo>
                  <a:pt x="2930526" y="3407588"/>
                </a:lnTo>
                <a:lnTo>
                  <a:pt x="0" y="34075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TextBox 15"/>
          <p:cNvSpPr txBox="1"/>
          <p:nvPr/>
        </p:nvSpPr>
        <p:spPr>
          <a:xfrm>
            <a:off x="9154148" y="5728601"/>
            <a:ext cx="8105152" cy="22706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Sử dụng cảm biến Soil Moisture Sensor cấm gần rễ cây nhằm đo lượng nước tích trữ trong đất, giúp người dùng quản lí việc tưới tiêu.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976734" y="576132"/>
            <a:ext cx="4985461" cy="4317433"/>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2114664" y="-804803"/>
            <a:ext cx="3480308" cy="3013963"/>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6" name="Group 6"/>
          <p:cNvGrpSpPr/>
          <p:nvPr/>
        </p:nvGrpSpPr>
        <p:grpSpPr>
          <a:xfrm>
            <a:off x="14077445" y="4114776"/>
            <a:ext cx="1798578" cy="1557577"/>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8" name="Group 8"/>
          <p:cNvGrpSpPr/>
          <p:nvPr/>
        </p:nvGrpSpPr>
        <p:grpSpPr>
          <a:xfrm>
            <a:off x="14976734" y="-1043203"/>
            <a:ext cx="3378391" cy="2925703"/>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10" name="Freeform 10"/>
          <p:cNvSpPr/>
          <p:nvPr/>
        </p:nvSpPr>
        <p:spPr>
          <a:xfrm rot="-2700000">
            <a:off x="5363306" y="6707493"/>
            <a:ext cx="2761469" cy="3049815"/>
          </a:xfrm>
          <a:custGeom>
            <a:avLst/>
            <a:gdLst/>
            <a:ahLst/>
            <a:cxnLst/>
            <a:rect l="l" t="t" r="r" b="b"/>
            <a:pathLst>
              <a:path w="2761469" h="3049815">
                <a:moveTo>
                  <a:pt x="0" y="0"/>
                </a:moveTo>
                <a:lnTo>
                  <a:pt x="2761469" y="0"/>
                </a:lnTo>
                <a:lnTo>
                  <a:pt x="2761469" y="3049815"/>
                </a:lnTo>
                <a:lnTo>
                  <a:pt x="0" y="30498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rot="-1730697">
            <a:off x="2016953" y="3140593"/>
            <a:ext cx="3269660" cy="1301919"/>
          </a:xfrm>
          <a:custGeom>
            <a:avLst/>
            <a:gdLst/>
            <a:ahLst/>
            <a:cxnLst/>
            <a:rect l="l" t="t" r="r" b="b"/>
            <a:pathLst>
              <a:path w="3269660" h="1301919">
                <a:moveTo>
                  <a:pt x="0" y="0"/>
                </a:moveTo>
                <a:lnTo>
                  <a:pt x="3269660" y="0"/>
                </a:lnTo>
                <a:lnTo>
                  <a:pt x="3269660" y="1301919"/>
                </a:lnTo>
                <a:lnTo>
                  <a:pt x="0" y="13019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TextBox 12"/>
          <p:cNvSpPr txBox="1"/>
          <p:nvPr/>
        </p:nvSpPr>
        <p:spPr>
          <a:xfrm>
            <a:off x="1028700" y="1038225"/>
            <a:ext cx="5512745"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Thiết bị</a:t>
            </a:r>
          </a:p>
        </p:txBody>
      </p:sp>
      <p:sp>
        <p:nvSpPr>
          <p:cNvPr id="13" name="TextBox 13"/>
          <p:cNvSpPr txBox="1"/>
          <p:nvPr/>
        </p:nvSpPr>
        <p:spPr>
          <a:xfrm>
            <a:off x="1028700" y="4826889"/>
            <a:ext cx="4369127" cy="3211334"/>
          </a:xfrm>
          <a:prstGeom prst="rect">
            <a:avLst/>
          </a:prstGeom>
        </p:spPr>
        <p:txBody>
          <a:bodyPr lIns="0" tIns="0" rIns="0" bIns="0" rtlCol="0" anchor="t">
            <a:spAutoFit/>
          </a:bodyPr>
          <a:lstStyle/>
          <a:p>
            <a:pPr algn="l">
              <a:lnSpc>
                <a:spcPts val="5172"/>
              </a:lnSpc>
            </a:pPr>
            <a:r>
              <a:rPr lang="en-US" sz="3694" b="1" i="1">
                <a:solidFill>
                  <a:srgbClr val="000000"/>
                </a:solidFill>
                <a:latin typeface="Noto Sans Bold Italics"/>
                <a:ea typeface="Noto Sans Bold Italics"/>
                <a:cs typeface="Noto Sans Bold Italics"/>
                <a:sym typeface="Noto Sans Bold Italics"/>
              </a:rPr>
              <a:t>Kiểm tra lượng nước còn lại</a:t>
            </a:r>
          </a:p>
          <a:p>
            <a:pPr algn="l">
              <a:lnSpc>
                <a:spcPts val="5172"/>
              </a:lnSpc>
            </a:pPr>
            <a:endParaRPr lang="en-US" sz="3694" b="1" i="1">
              <a:solidFill>
                <a:srgbClr val="000000"/>
              </a:solidFill>
              <a:latin typeface="Noto Sans Bold Italics"/>
              <a:ea typeface="Noto Sans Bold Italics"/>
              <a:cs typeface="Noto Sans Bold Italics"/>
              <a:sym typeface="Noto Sans Bold Italics"/>
            </a:endParaRPr>
          </a:p>
          <a:p>
            <a:pPr algn="l">
              <a:lnSpc>
                <a:spcPts val="5172"/>
              </a:lnSpc>
            </a:pPr>
            <a:r>
              <a:rPr lang="en-US" sz="3694" b="1" i="1">
                <a:solidFill>
                  <a:srgbClr val="000000"/>
                </a:solidFill>
                <a:latin typeface="Noto Sans Bold Italics"/>
                <a:ea typeface="Noto Sans Bold Italics"/>
                <a:cs typeface="Noto Sans Bold Italics"/>
                <a:sym typeface="Noto Sans Bold Italics"/>
              </a:rPr>
              <a:t>Hiển thị các thông số và lượng pin</a:t>
            </a:r>
          </a:p>
        </p:txBody>
      </p:sp>
      <p:sp>
        <p:nvSpPr>
          <p:cNvPr id="14" name="TextBox 14"/>
          <p:cNvSpPr txBox="1"/>
          <p:nvPr/>
        </p:nvSpPr>
        <p:spPr>
          <a:xfrm>
            <a:off x="9154148" y="6415303"/>
            <a:ext cx="8105152" cy="28421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Sử dụng màn hình LCD2004 để hiển thị trực quan các thông số như nhiệt độ, độ ẩm không khí, độ ẩm đất, trạng thái tưới nước, lượng pin còn lại.</a:t>
            </a:r>
          </a:p>
          <a:p>
            <a:pPr algn="just">
              <a:lnSpc>
                <a:spcPts val="4518"/>
              </a:lnSpc>
            </a:pPr>
            <a:endParaRPr lang="en-US" sz="3227">
              <a:solidFill>
                <a:srgbClr val="000000"/>
              </a:solidFill>
              <a:latin typeface="Noto Sans"/>
              <a:ea typeface="Noto Sans"/>
              <a:cs typeface="Noto Sans"/>
              <a:sym typeface="Noto Sans"/>
            </a:endParaRPr>
          </a:p>
        </p:txBody>
      </p:sp>
      <p:sp>
        <p:nvSpPr>
          <p:cNvPr id="15" name="TextBox 15"/>
          <p:cNvSpPr txBox="1"/>
          <p:nvPr/>
        </p:nvSpPr>
        <p:spPr>
          <a:xfrm>
            <a:off x="5749665" y="2622866"/>
            <a:ext cx="8105152" cy="22706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Sử dụng cảm biến siêu âm (HC-SR04) để đo khoảng cách và kiểm tra lượng nước còn lại trong bình chứa nước của hệ thống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5164968" y="-686595"/>
            <a:ext cx="4985461" cy="4317433"/>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294290" y="7750520"/>
            <a:ext cx="3480308" cy="3013963"/>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6" name="Group 6"/>
          <p:cNvGrpSpPr/>
          <p:nvPr/>
        </p:nvGrpSpPr>
        <p:grpSpPr>
          <a:xfrm>
            <a:off x="1286729" y="8729423"/>
            <a:ext cx="1798578" cy="1557577"/>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8" name="Group 8"/>
          <p:cNvGrpSpPr/>
          <p:nvPr/>
        </p:nvGrpSpPr>
        <p:grpSpPr>
          <a:xfrm>
            <a:off x="15310109" y="-1152466"/>
            <a:ext cx="3378391" cy="2925703"/>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10" name="Freeform 10"/>
          <p:cNvSpPr/>
          <p:nvPr/>
        </p:nvSpPr>
        <p:spPr>
          <a:xfrm>
            <a:off x="5789780" y="6630430"/>
            <a:ext cx="2163602" cy="1542595"/>
          </a:xfrm>
          <a:custGeom>
            <a:avLst/>
            <a:gdLst/>
            <a:ahLst/>
            <a:cxnLst/>
            <a:rect l="l" t="t" r="r" b="b"/>
            <a:pathLst>
              <a:path w="2163602" h="1542595">
                <a:moveTo>
                  <a:pt x="0" y="0"/>
                </a:moveTo>
                <a:lnTo>
                  <a:pt x="2163603" y="0"/>
                </a:lnTo>
                <a:lnTo>
                  <a:pt x="2163603" y="1542594"/>
                </a:lnTo>
                <a:lnTo>
                  <a:pt x="0" y="15425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14751225" y="3871101"/>
            <a:ext cx="3199697" cy="2691667"/>
          </a:xfrm>
          <a:custGeom>
            <a:avLst/>
            <a:gdLst/>
            <a:ahLst/>
            <a:cxnLst/>
            <a:rect l="l" t="t" r="r" b="b"/>
            <a:pathLst>
              <a:path w="3199697" h="2691667">
                <a:moveTo>
                  <a:pt x="0" y="0"/>
                </a:moveTo>
                <a:lnTo>
                  <a:pt x="3199697" y="0"/>
                </a:lnTo>
                <a:lnTo>
                  <a:pt x="3199697" y="2691667"/>
                </a:lnTo>
                <a:lnTo>
                  <a:pt x="0" y="26916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12" name="Picture 12"/>
          <p:cNvPicPr>
            <a:picLocks noChangeAspect="1"/>
          </p:cNvPicPr>
          <p:nvPr/>
        </p:nvPicPr>
        <p:blipFill>
          <a:blip r:embed="rId6"/>
          <a:srcRect/>
          <a:stretch>
            <a:fillRect/>
          </a:stretch>
        </p:blipFill>
        <p:spPr>
          <a:xfrm rot="528819">
            <a:off x="4130333" y="2956547"/>
            <a:ext cx="2205488" cy="2128296"/>
          </a:xfrm>
          <a:prstGeom prst="rect">
            <a:avLst/>
          </a:prstGeom>
        </p:spPr>
      </p:pic>
      <p:sp>
        <p:nvSpPr>
          <p:cNvPr id="13" name="TextBox 13"/>
          <p:cNvSpPr txBox="1"/>
          <p:nvPr/>
        </p:nvSpPr>
        <p:spPr>
          <a:xfrm>
            <a:off x="1028700" y="1038225"/>
            <a:ext cx="5512745"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Thiết bị</a:t>
            </a:r>
          </a:p>
        </p:txBody>
      </p:sp>
      <p:sp>
        <p:nvSpPr>
          <p:cNvPr id="14" name="TextBox 14"/>
          <p:cNvSpPr txBox="1"/>
          <p:nvPr/>
        </p:nvSpPr>
        <p:spPr>
          <a:xfrm>
            <a:off x="1600509" y="5076825"/>
            <a:ext cx="4369127" cy="2563634"/>
          </a:xfrm>
          <a:prstGeom prst="rect">
            <a:avLst/>
          </a:prstGeom>
        </p:spPr>
        <p:txBody>
          <a:bodyPr lIns="0" tIns="0" rIns="0" bIns="0" rtlCol="0" anchor="t">
            <a:spAutoFit/>
          </a:bodyPr>
          <a:lstStyle/>
          <a:p>
            <a:pPr algn="l">
              <a:lnSpc>
                <a:spcPts val="5172"/>
              </a:lnSpc>
            </a:pPr>
            <a:r>
              <a:rPr lang="en-US" sz="3694" b="1" i="1">
                <a:solidFill>
                  <a:srgbClr val="000000"/>
                </a:solidFill>
                <a:latin typeface="Noto Sans Bold Italics"/>
                <a:ea typeface="Noto Sans Bold Italics"/>
                <a:cs typeface="Noto Sans Bold Italics"/>
                <a:sym typeface="Noto Sans Bold Italics"/>
              </a:rPr>
              <a:t>Tưới cây tự động / thủ công</a:t>
            </a:r>
          </a:p>
          <a:p>
            <a:pPr algn="l">
              <a:lnSpc>
                <a:spcPts val="5172"/>
              </a:lnSpc>
            </a:pPr>
            <a:endParaRPr lang="en-US" sz="3694" b="1" i="1">
              <a:solidFill>
                <a:srgbClr val="000000"/>
              </a:solidFill>
              <a:latin typeface="Noto Sans Bold Italics"/>
              <a:ea typeface="Noto Sans Bold Italics"/>
              <a:cs typeface="Noto Sans Bold Italics"/>
              <a:sym typeface="Noto Sans Bold Italics"/>
            </a:endParaRPr>
          </a:p>
          <a:p>
            <a:pPr algn="l">
              <a:lnSpc>
                <a:spcPts val="5172"/>
              </a:lnSpc>
            </a:pPr>
            <a:r>
              <a:rPr lang="en-US" sz="3694" b="1" i="1">
                <a:solidFill>
                  <a:srgbClr val="000000"/>
                </a:solidFill>
                <a:latin typeface="Noto Sans Bold Italics"/>
                <a:ea typeface="Noto Sans Bold Italics"/>
                <a:cs typeface="Noto Sans Bold Italics"/>
                <a:sym typeface="Noto Sans Bold Italics"/>
              </a:rPr>
              <a:t>Tắt/mở thiết bị</a:t>
            </a:r>
          </a:p>
        </p:txBody>
      </p:sp>
      <p:sp>
        <p:nvSpPr>
          <p:cNvPr id="15" name="TextBox 15"/>
          <p:cNvSpPr txBox="1"/>
          <p:nvPr/>
        </p:nvSpPr>
        <p:spPr>
          <a:xfrm>
            <a:off x="8826204" y="6736357"/>
            <a:ext cx="8315317" cy="1741529"/>
          </a:xfrm>
          <a:prstGeom prst="rect">
            <a:avLst/>
          </a:prstGeom>
        </p:spPr>
        <p:txBody>
          <a:bodyPr lIns="0" tIns="0" rIns="0" bIns="0" rtlCol="0" anchor="t">
            <a:spAutoFit/>
          </a:bodyPr>
          <a:lstStyle/>
          <a:p>
            <a:pPr algn="just">
              <a:lnSpc>
                <a:spcPts val="4635"/>
              </a:lnSpc>
            </a:pPr>
            <a:r>
              <a:rPr lang="en-US" sz="3311">
                <a:solidFill>
                  <a:srgbClr val="000000"/>
                </a:solidFill>
                <a:latin typeface="Noto Sans"/>
                <a:ea typeface="Noto Sans"/>
                <a:cs typeface="Noto Sans"/>
                <a:sym typeface="Noto Sans"/>
              </a:rPr>
              <a:t>Sử dụng nút nhấn để tắt mở thiết bị nhanh chóng.</a:t>
            </a:r>
          </a:p>
          <a:p>
            <a:pPr algn="just">
              <a:lnSpc>
                <a:spcPts val="4635"/>
              </a:lnSpc>
            </a:pPr>
            <a:endParaRPr lang="en-US" sz="3311">
              <a:solidFill>
                <a:srgbClr val="000000"/>
              </a:solidFill>
              <a:latin typeface="Noto Sans"/>
              <a:ea typeface="Noto Sans"/>
              <a:cs typeface="Noto Sans"/>
              <a:sym typeface="Noto Sans"/>
            </a:endParaRPr>
          </a:p>
        </p:txBody>
      </p:sp>
      <p:sp>
        <p:nvSpPr>
          <p:cNvPr id="16" name="TextBox 16"/>
          <p:cNvSpPr txBox="1"/>
          <p:nvPr/>
        </p:nvSpPr>
        <p:spPr>
          <a:xfrm>
            <a:off x="6871582" y="2872802"/>
            <a:ext cx="8105152" cy="2270698"/>
          </a:xfrm>
          <a:prstGeom prst="rect">
            <a:avLst/>
          </a:prstGeom>
        </p:spPr>
        <p:txBody>
          <a:bodyPr lIns="0" tIns="0" rIns="0" bIns="0" rtlCol="0" anchor="t">
            <a:spAutoFit/>
          </a:bodyPr>
          <a:lstStyle/>
          <a:p>
            <a:pPr algn="just">
              <a:lnSpc>
                <a:spcPts val="4518"/>
              </a:lnSpc>
            </a:pPr>
            <a:r>
              <a:rPr lang="en-US" sz="3227">
                <a:solidFill>
                  <a:srgbClr val="000000"/>
                </a:solidFill>
                <a:latin typeface="Noto Sans"/>
                <a:ea typeface="Noto Sans"/>
                <a:cs typeface="Noto Sans"/>
                <a:sym typeface="Noto Sans"/>
              </a:rPr>
              <a:t>Sử dụng Mini Water Pump 5VDC kết hợp cùng với các cảm biến, thông số để tự động tưới cây. Có thể chuyển sang mode tưới cây thủ công bằng nút nhấn.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028700" y="1038225"/>
            <a:ext cx="5512745"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Web</a:t>
            </a:r>
          </a:p>
        </p:txBody>
      </p:sp>
      <p:grpSp>
        <p:nvGrpSpPr>
          <p:cNvPr id="3" name="Group 3"/>
          <p:cNvGrpSpPr/>
          <p:nvPr/>
        </p:nvGrpSpPr>
        <p:grpSpPr>
          <a:xfrm>
            <a:off x="-2147033" y="8483226"/>
            <a:ext cx="4985461" cy="4317433"/>
            <a:chOff x="0" y="0"/>
            <a:chExt cx="3619627" cy="3134614"/>
          </a:xfrm>
        </p:grpSpPr>
        <p:sp>
          <p:nvSpPr>
            <p:cNvPr id="4" name="Freeform 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5" name="Group 5"/>
          <p:cNvGrpSpPr/>
          <p:nvPr/>
        </p:nvGrpSpPr>
        <p:grpSpPr>
          <a:xfrm>
            <a:off x="15519146" y="8583198"/>
            <a:ext cx="3480308" cy="3013963"/>
            <a:chOff x="0" y="0"/>
            <a:chExt cx="3619627" cy="3134614"/>
          </a:xfrm>
        </p:grpSpPr>
        <p:sp>
          <p:nvSpPr>
            <p:cNvPr id="6" name="Freeform 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7" name="Group 7"/>
          <p:cNvGrpSpPr/>
          <p:nvPr/>
        </p:nvGrpSpPr>
        <p:grpSpPr>
          <a:xfrm>
            <a:off x="1216118" y="9084365"/>
            <a:ext cx="1798578" cy="1557577"/>
            <a:chOff x="0" y="0"/>
            <a:chExt cx="3619627" cy="3134614"/>
          </a:xfrm>
        </p:grpSpPr>
        <p:sp>
          <p:nvSpPr>
            <p:cNvPr id="8" name="Freeform 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9" name="Group 9"/>
          <p:cNvGrpSpPr/>
          <p:nvPr/>
        </p:nvGrpSpPr>
        <p:grpSpPr>
          <a:xfrm>
            <a:off x="15621063" y="-611128"/>
            <a:ext cx="3378391" cy="2925703"/>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aphicFrame>
        <p:nvGraphicFramePr>
          <p:cNvPr id="11" name="Table 11"/>
          <p:cNvGraphicFramePr>
            <a:graphicFrameLocks noGrp="1"/>
          </p:cNvGraphicFramePr>
          <p:nvPr/>
        </p:nvGraphicFramePr>
        <p:xfrm>
          <a:off x="933310" y="2753312"/>
          <a:ext cx="16421380" cy="5391149"/>
        </p:xfrm>
        <a:graphic>
          <a:graphicData uri="http://schemas.openxmlformats.org/drawingml/2006/table">
            <a:tbl>
              <a:tblPr/>
              <a:tblGrid>
                <a:gridCol w="8210690">
                  <a:extLst>
                    <a:ext uri="{9D8B030D-6E8A-4147-A177-3AD203B41FA5}">
                      <a16:colId xmlns:a16="http://schemas.microsoft.com/office/drawing/2014/main" val="20000"/>
                    </a:ext>
                  </a:extLst>
                </a:gridCol>
                <a:gridCol w="8210690">
                  <a:extLst>
                    <a:ext uri="{9D8B030D-6E8A-4147-A177-3AD203B41FA5}">
                      <a16:colId xmlns:a16="http://schemas.microsoft.com/office/drawing/2014/main" val="20001"/>
                    </a:ext>
                  </a:extLst>
                </a:gridCol>
              </a:tblGrid>
              <a:tr h="987268">
                <a:tc>
                  <a:txBody>
                    <a:bodyPr/>
                    <a:lstStyle/>
                    <a:p>
                      <a:pPr algn="ctr">
                        <a:lnSpc>
                          <a:spcPts val="3080"/>
                        </a:lnSpc>
                        <a:defRPr/>
                      </a:pPr>
                      <a:r>
                        <a:rPr lang="en-US" sz="2200">
                          <a:solidFill>
                            <a:srgbClr val="FFF4E3"/>
                          </a:solidFill>
                          <a:latin typeface="Muli"/>
                          <a:ea typeface="Muli"/>
                          <a:cs typeface="Muli"/>
                          <a:sym typeface="Muli"/>
                        </a:rPr>
                        <a:t>Đăng ký</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tc>
                  <a:txBody>
                    <a:bodyPr/>
                    <a:lstStyle/>
                    <a:p>
                      <a:pPr algn="ctr">
                        <a:lnSpc>
                          <a:spcPts val="3080"/>
                        </a:lnSpc>
                        <a:defRPr/>
                      </a:pPr>
                      <a:r>
                        <a:rPr lang="en-US" sz="2200">
                          <a:solidFill>
                            <a:srgbClr val="455C34"/>
                          </a:solidFill>
                          <a:latin typeface="Muli"/>
                          <a:ea typeface="Muli"/>
                          <a:cs typeface="Muli"/>
                          <a:sym typeface="Muli"/>
                        </a:rPr>
                        <a:t>Đăng nhập</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extLst>
                  <a:ext uri="{0D108BD9-81ED-4DB2-BD59-A6C34878D82A}">
                    <a16:rowId xmlns:a16="http://schemas.microsoft.com/office/drawing/2014/main" val="10000"/>
                  </a:ext>
                </a:extLst>
              </a:tr>
              <a:tr h="987268">
                <a:tc>
                  <a:txBody>
                    <a:bodyPr/>
                    <a:lstStyle/>
                    <a:p>
                      <a:pPr algn="ctr">
                        <a:lnSpc>
                          <a:spcPts val="3080"/>
                        </a:lnSpc>
                        <a:defRPr/>
                      </a:pPr>
                      <a:r>
                        <a:rPr lang="en-US" sz="2200">
                          <a:solidFill>
                            <a:srgbClr val="455C34"/>
                          </a:solidFill>
                          <a:latin typeface="Muli"/>
                          <a:ea typeface="Muli"/>
                          <a:cs typeface="Muli"/>
                          <a:sym typeface="Muli"/>
                        </a:rPr>
                        <a:t>Tắt/Mở chế độ tự động tưới</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tc>
                  <a:txBody>
                    <a:bodyPr/>
                    <a:lstStyle/>
                    <a:p>
                      <a:pPr algn="ctr">
                        <a:lnSpc>
                          <a:spcPts val="3080"/>
                        </a:lnSpc>
                        <a:defRPr/>
                      </a:pPr>
                      <a:r>
                        <a:rPr lang="en-US" sz="2200">
                          <a:solidFill>
                            <a:srgbClr val="FFF4E3"/>
                          </a:solidFill>
                          <a:latin typeface="Muli"/>
                          <a:ea typeface="Muli"/>
                          <a:cs typeface="Muli"/>
                          <a:sym typeface="Muli"/>
                        </a:rPr>
                        <a:t>Tắt/Mở sản phẩm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extLst>
                  <a:ext uri="{0D108BD9-81ED-4DB2-BD59-A6C34878D82A}">
                    <a16:rowId xmlns:a16="http://schemas.microsoft.com/office/drawing/2014/main" val="10001"/>
                  </a:ext>
                </a:extLst>
              </a:tr>
              <a:tr h="1442077">
                <a:tc>
                  <a:txBody>
                    <a:bodyPr/>
                    <a:lstStyle/>
                    <a:p>
                      <a:pPr algn="ctr">
                        <a:lnSpc>
                          <a:spcPts val="3080"/>
                        </a:lnSpc>
                        <a:defRPr/>
                      </a:pPr>
                      <a:r>
                        <a:rPr lang="en-US" sz="2200">
                          <a:solidFill>
                            <a:srgbClr val="FFF4E3"/>
                          </a:solidFill>
                          <a:latin typeface="Muli"/>
                          <a:ea typeface="Muli"/>
                          <a:cs typeface="Muli"/>
                          <a:sym typeface="Muli"/>
                        </a:rPr>
                        <a:t>Thực hiện hành động bơm nước</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tc>
                  <a:txBody>
                    <a:bodyPr/>
                    <a:lstStyle/>
                    <a:p>
                      <a:pPr algn="ctr">
                        <a:lnSpc>
                          <a:spcPts val="3080"/>
                        </a:lnSpc>
                        <a:defRPr/>
                      </a:pPr>
                      <a:r>
                        <a:rPr lang="en-US" sz="2200">
                          <a:solidFill>
                            <a:srgbClr val="455C34"/>
                          </a:solidFill>
                          <a:latin typeface="Muli"/>
                          <a:ea typeface="Muli"/>
                          <a:cs typeface="Muli"/>
                          <a:sym typeface="Muli"/>
                        </a:rPr>
                        <a:t>Quan sát được nhiệt độ, độ ẩm không khí, và </a:t>
                      </a:r>
                      <a:endParaRPr lang="en-US" sz="1100"/>
                    </a:p>
                    <a:p>
                      <a:pPr algn="ctr">
                        <a:lnSpc>
                          <a:spcPts val="3080"/>
                        </a:lnSpc>
                      </a:pPr>
                      <a:r>
                        <a:rPr lang="en-US" sz="2200">
                          <a:solidFill>
                            <a:srgbClr val="455C34"/>
                          </a:solidFill>
                          <a:latin typeface="Muli"/>
                          <a:ea typeface="Muli"/>
                          <a:cs typeface="Muli"/>
                          <a:sym typeface="Muli"/>
                        </a:rPr>
                        <a:t>lượng % ánh sáng</a:t>
                      </a:r>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extLst>
                  <a:ext uri="{0D108BD9-81ED-4DB2-BD59-A6C34878D82A}">
                    <a16:rowId xmlns:a16="http://schemas.microsoft.com/office/drawing/2014/main" val="10002"/>
                  </a:ext>
                </a:extLst>
              </a:tr>
              <a:tr h="987268">
                <a:tc>
                  <a:txBody>
                    <a:bodyPr/>
                    <a:lstStyle/>
                    <a:p>
                      <a:pPr algn="ctr">
                        <a:lnSpc>
                          <a:spcPts val="3080"/>
                        </a:lnSpc>
                        <a:defRPr/>
                      </a:pPr>
                      <a:r>
                        <a:rPr lang="en-US" sz="2200">
                          <a:solidFill>
                            <a:srgbClr val="455C34"/>
                          </a:solidFill>
                          <a:latin typeface="Muli"/>
                          <a:ea typeface="Muli"/>
                          <a:cs typeface="Muli"/>
                          <a:sym typeface="Muli"/>
                        </a:rPr>
                        <a:t>Quan sát được độ ẩm đất</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tc>
                  <a:txBody>
                    <a:bodyPr/>
                    <a:lstStyle/>
                    <a:p>
                      <a:pPr algn="ctr">
                        <a:lnSpc>
                          <a:spcPts val="3080"/>
                        </a:lnSpc>
                        <a:defRPr/>
                      </a:pPr>
                      <a:r>
                        <a:rPr lang="en-US" sz="2200">
                          <a:solidFill>
                            <a:srgbClr val="FFF4E3"/>
                          </a:solidFill>
                          <a:latin typeface="Muli"/>
                          <a:ea typeface="Muli"/>
                          <a:cs typeface="Muli"/>
                          <a:sym typeface="Muli"/>
                        </a:rPr>
                        <a:t>Quan sát được lịch sử tưới nước  </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extLst>
                  <a:ext uri="{0D108BD9-81ED-4DB2-BD59-A6C34878D82A}">
                    <a16:rowId xmlns:a16="http://schemas.microsoft.com/office/drawing/2014/main" val="10003"/>
                  </a:ext>
                </a:extLst>
              </a:tr>
              <a:tr h="987268">
                <a:tc>
                  <a:txBody>
                    <a:bodyPr/>
                    <a:lstStyle/>
                    <a:p>
                      <a:pPr algn="ctr">
                        <a:lnSpc>
                          <a:spcPts val="3080"/>
                        </a:lnSpc>
                        <a:defRPr/>
                      </a:pPr>
                      <a:r>
                        <a:rPr lang="en-US" sz="2200">
                          <a:solidFill>
                            <a:srgbClr val="FFF4E3"/>
                          </a:solidFill>
                          <a:latin typeface="Muli"/>
                          <a:ea typeface="Muli"/>
                          <a:cs typeface="Muli"/>
                          <a:sym typeface="Muli"/>
                        </a:rPr>
                        <a:t>Gửi thông báo về cho người dùng bằng email</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tc>
                  <a:txBody>
                    <a:bodyPr/>
                    <a:lstStyle/>
                    <a:p>
                      <a:pPr algn="ctr">
                        <a:lnSpc>
                          <a:spcPts val="3080"/>
                        </a:lnSpc>
                        <a:defRPr/>
                      </a:pPr>
                      <a:r>
                        <a:rPr lang="en-US" sz="2200">
                          <a:solidFill>
                            <a:srgbClr val="455C34"/>
                          </a:solidFill>
                          <a:latin typeface="Muli"/>
                          <a:ea typeface="Muli"/>
                          <a:cs typeface="Muli"/>
                          <a:sym typeface="Muli"/>
                        </a:rPr>
                        <a:t>Gửi thông báo về điện thoại</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151770" y="4201140"/>
            <a:ext cx="7027514" cy="608586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4778677" y="-533331"/>
            <a:ext cx="4961246" cy="4296462"/>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028700" y="1028700"/>
            <a:ext cx="4212844" cy="586200"/>
            <a:chOff x="0" y="0"/>
            <a:chExt cx="5617125" cy="781600"/>
          </a:xfrm>
        </p:grpSpPr>
        <p:sp>
          <p:nvSpPr>
            <p:cNvPr id="7" name="TextBox 7"/>
            <p:cNvSpPr txBox="1"/>
            <p:nvPr/>
          </p:nvSpPr>
          <p:spPr>
            <a:xfrm>
              <a:off x="1293956" y="104415"/>
              <a:ext cx="4323169" cy="525145"/>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Muli Bold"/>
                  <a:ea typeface="Muli Bold"/>
                  <a:cs typeface="Muli Bold"/>
                  <a:sym typeface="Muli Bold"/>
                </a:rPr>
                <a:t>Nhóm 6</a:t>
              </a:r>
            </a:p>
          </p:txBody>
        </p:sp>
        <p:sp>
          <p:nvSpPr>
            <p:cNvPr id="8" name="Freeform 8"/>
            <p:cNvSpPr/>
            <p:nvPr/>
          </p:nvSpPr>
          <p:spPr>
            <a:xfrm>
              <a:off x="0" y="0"/>
              <a:ext cx="905010" cy="781600"/>
            </a:xfrm>
            <a:custGeom>
              <a:avLst/>
              <a:gdLst/>
              <a:ahLst/>
              <a:cxnLst/>
              <a:rect l="l" t="t" r="r" b="b"/>
              <a:pathLst>
                <a:path w="905010" h="781600">
                  <a:moveTo>
                    <a:pt x="0" y="0"/>
                  </a:moveTo>
                  <a:lnTo>
                    <a:pt x="905010" y="0"/>
                  </a:lnTo>
                  <a:lnTo>
                    <a:pt x="905010" y="781600"/>
                  </a:lnTo>
                  <a:lnTo>
                    <a:pt x="0" y="781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9" name="Group 9"/>
          <p:cNvGrpSpPr/>
          <p:nvPr/>
        </p:nvGrpSpPr>
        <p:grpSpPr>
          <a:xfrm>
            <a:off x="-2485057" y="7860483"/>
            <a:ext cx="7027514" cy="6085860"/>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1" name="Group 11"/>
          <p:cNvGrpSpPr>
            <a:grpSpLocks noChangeAspect="1"/>
          </p:cNvGrpSpPr>
          <p:nvPr/>
        </p:nvGrpSpPr>
        <p:grpSpPr>
          <a:xfrm>
            <a:off x="10676454" y="1847872"/>
            <a:ext cx="7611546" cy="6591255"/>
            <a:chOff x="0" y="0"/>
            <a:chExt cx="4282440" cy="3708400"/>
          </a:xfrm>
        </p:grpSpPr>
        <p:sp>
          <p:nvSpPr>
            <p:cNvPr id="12" name="Freeform 12"/>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14519" r="-24033"/>
              </a:stretch>
            </a:blipFill>
          </p:spPr>
          <p:txBody>
            <a:bodyPr/>
            <a:lstStyle/>
            <a:p>
              <a:endParaRPr lang="en-US"/>
            </a:p>
          </p:txBody>
        </p:sp>
      </p:grpSp>
      <p:grpSp>
        <p:nvGrpSpPr>
          <p:cNvPr id="13" name="Group 13"/>
          <p:cNvGrpSpPr/>
          <p:nvPr/>
        </p:nvGrpSpPr>
        <p:grpSpPr>
          <a:xfrm>
            <a:off x="595387" y="3843132"/>
            <a:ext cx="9292313" cy="2600736"/>
            <a:chOff x="0" y="0"/>
            <a:chExt cx="12389751" cy="3467648"/>
          </a:xfrm>
        </p:grpSpPr>
        <p:sp>
          <p:nvSpPr>
            <p:cNvPr id="14" name="TextBox 14"/>
            <p:cNvSpPr txBox="1"/>
            <p:nvPr/>
          </p:nvSpPr>
          <p:spPr>
            <a:xfrm>
              <a:off x="0" y="0"/>
              <a:ext cx="12389751" cy="1968500"/>
            </a:xfrm>
            <a:prstGeom prst="rect">
              <a:avLst/>
            </a:prstGeom>
          </p:spPr>
          <p:txBody>
            <a:bodyPr lIns="0" tIns="0" rIns="0" bIns="0" rtlCol="0" anchor="t">
              <a:spAutoFit/>
            </a:bodyPr>
            <a:lstStyle/>
            <a:p>
              <a:pPr algn="l">
                <a:lnSpc>
                  <a:spcPts val="11639"/>
                </a:lnSpc>
                <a:spcBef>
                  <a:spcPct val="0"/>
                </a:spcBef>
              </a:pPr>
              <a:r>
                <a:rPr lang="en-US" sz="9699" b="1" spc="-96">
                  <a:solidFill>
                    <a:srgbClr val="000000"/>
                  </a:solidFill>
                  <a:latin typeface="Muli Bold"/>
                  <a:ea typeface="Muli Bold"/>
                  <a:cs typeface="Muli Bold"/>
                  <a:sym typeface="Muli Bold"/>
                </a:rPr>
                <a:t>PHẦN THIẾT KẾ</a:t>
              </a:r>
            </a:p>
          </p:txBody>
        </p:sp>
        <p:sp>
          <p:nvSpPr>
            <p:cNvPr id="15" name="TextBox 15"/>
            <p:cNvSpPr txBox="1"/>
            <p:nvPr/>
          </p:nvSpPr>
          <p:spPr>
            <a:xfrm>
              <a:off x="0" y="2184524"/>
              <a:ext cx="11099647" cy="1283124"/>
            </a:xfrm>
            <a:prstGeom prst="rect">
              <a:avLst/>
            </a:prstGeom>
          </p:spPr>
          <p:txBody>
            <a:bodyPr lIns="0" tIns="0" rIns="0" bIns="0" rtlCol="0" anchor="t">
              <a:spAutoFit/>
            </a:bodyPr>
            <a:lstStyle/>
            <a:p>
              <a:pPr marL="604518" lvl="1" indent="-302259" algn="l">
                <a:lnSpc>
                  <a:spcPts val="3919"/>
                </a:lnSpc>
                <a:buFont typeface="Arial"/>
                <a:buChar char="•"/>
              </a:pPr>
              <a:r>
                <a:rPr lang="en-US" sz="2799" b="1">
                  <a:solidFill>
                    <a:srgbClr val="000000"/>
                  </a:solidFill>
                  <a:latin typeface="Muli Bold"/>
                  <a:ea typeface="Muli Bold"/>
                  <a:cs typeface="Muli Bold"/>
                  <a:sym typeface="Muli Bold"/>
                </a:rPr>
                <a:t>Thiết kế phần cứng</a:t>
              </a:r>
            </a:p>
            <a:p>
              <a:pPr marL="604518" lvl="1" indent="-302259" algn="l">
                <a:lnSpc>
                  <a:spcPts val="3919"/>
                </a:lnSpc>
                <a:buFont typeface="Arial"/>
                <a:buChar char="•"/>
              </a:pPr>
              <a:r>
                <a:rPr lang="en-US" sz="2799" b="1">
                  <a:solidFill>
                    <a:srgbClr val="000000"/>
                  </a:solidFill>
                  <a:latin typeface="Muli Bold"/>
                  <a:ea typeface="Muli Bold"/>
                  <a:cs typeface="Muli Bold"/>
                  <a:sym typeface="Muli Bold"/>
                </a:rPr>
                <a:t>Thiết kế trang web điều khiển</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167026" y="6969319"/>
            <a:ext cx="4201515" cy="3638531"/>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4" name="Group 4"/>
          <p:cNvGrpSpPr/>
          <p:nvPr/>
        </p:nvGrpSpPr>
        <p:grpSpPr>
          <a:xfrm>
            <a:off x="0" y="8864103"/>
            <a:ext cx="3286119" cy="2845795"/>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6" name="Group 6"/>
          <p:cNvGrpSpPr/>
          <p:nvPr/>
        </p:nvGrpSpPr>
        <p:grpSpPr>
          <a:xfrm>
            <a:off x="12586687" y="-1289385"/>
            <a:ext cx="2977778" cy="2578770"/>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8" name="Group 8"/>
          <p:cNvGrpSpPr/>
          <p:nvPr/>
        </p:nvGrpSpPr>
        <p:grpSpPr>
          <a:xfrm>
            <a:off x="13463708" y="-3108651"/>
            <a:ext cx="4201515" cy="3638531"/>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10" name="Group 10"/>
          <p:cNvGrpSpPr/>
          <p:nvPr/>
        </p:nvGrpSpPr>
        <p:grpSpPr>
          <a:xfrm>
            <a:off x="15564465" y="-682670"/>
            <a:ext cx="3286119" cy="2845795"/>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2" name="Freeform 12"/>
          <p:cNvSpPr/>
          <p:nvPr/>
        </p:nvSpPr>
        <p:spPr>
          <a:xfrm>
            <a:off x="1643060" y="3136464"/>
            <a:ext cx="6946764" cy="6121836"/>
          </a:xfrm>
          <a:custGeom>
            <a:avLst/>
            <a:gdLst/>
            <a:ahLst/>
            <a:cxnLst/>
            <a:rect l="l" t="t" r="r" b="b"/>
            <a:pathLst>
              <a:path w="6946764" h="6121836">
                <a:moveTo>
                  <a:pt x="0" y="0"/>
                </a:moveTo>
                <a:lnTo>
                  <a:pt x="6946764" y="0"/>
                </a:lnTo>
                <a:lnTo>
                  <a:pt x="6946764" y="6121836"/>
                </a:lnTo>
                <a:lnTo>
                  <a:pt x="0" y="6121836"/>
                </a:lnTo>
                <a:lnTo>
                  <a:pt x="0" y="0"/>
                </a:lnTo>
                <a:close/>
              </a:path>
            </a:pathLst>
          </a:custGeom>
          <a:blipFill>
            <a:blip r:embed="rId2"/>
            <a:stretch>
              <a:fillRect/>
            </a:stretch>
          </a:blipFill>
        </p:spPr>
        <p:txBody>
          <a:bodyPr/>
          <a:lstStyle/>
          <a:p>
            <a:endParaRPr lang="en-US"/>
          </a:p>
        </p:txBody>
      </p:sp>
      <p:sp>
        <p:nvSpPr>
          <p:cNvPr id="13" name="Freeform 13"/>
          <p:cNvSpPr/>
          <p:nvPr/>
        </p:nvSpPr>
        <p:spPr>
          <a:xfrm>
            <a:off x="9144000" y="3364612"/>
            <a:ext cx="8359841" cy="5893688"/>
          </a:xfrm>
          <a:custGeom>
            <a:avLst/>
            <a:gdLst/>
            <a:ahLst/>
            <a:cxnLst/>
            <a:rect l="l" t="t" r="r" b="b"/>
            <a:pathLst>
              <a:path w="8359841" h="5893688">
                <a:moveTo>
                  <a:pt x="0" y="0"/>
                </a:moveTo>
                <a:lnTo>
                  <a:pt x="8359841" y="0"/>
                </a:lnTo>
                <a:lnTo>
                  <a:pt x="8359841" y="5893688"/>
                </a:lnTo>
                <a:lnTo>
                  <a:pt x="0" y="5893688"/>
                </a:lnTo>
                <a:lnTo>
                  <a:pt x="0" y="0"/>
                </a:lnTo>
                <a:close/>
              </a:path>
            </a:pathLst>
          </a:custGeom>
          <a:blipFill>
            <a:blip r:embed="rId3"/>
            <a:stretch>
              <a:fillRect/>
            </a:stretch>
          </a:blipFill>
        </p:spPr>
        <p:txBody>
          <a:bodyPr/>
          <a:lstStyle/>
          <a:p>
            <a:endParaRPr lang="en-US"/>
          </a:p>
        </p:txBody>
      </p:sp>
      <p:sp>
        <p:nvSpPr>
          <p:cNvPr id="14" name="TextBox 14"/>
          <p:cNvSpPr txBox="1"/>
          <p:nvPr/>
        </p:nvSpPr>
        <p:spPr>
          <a:xfrm>
            <a:off x="1028700"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Thiết kế phần cứng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167026" y="6969319"/>
            <a:ext cx="4201515" cy="3638531"/>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4" name="Group 4"/>
          <p:cNvGrpSpPr/>
          <p:nvPr/>
        </p:nvGrpSpPr>
        <p:grpSpPr>
          <a:xfrm>
            <a:off x="0" y="8864103"/>
            <a:ext cx="3286119" cy="2845795"/>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6" name="Group 6"/>
          <p:cNvGrpSpPr/>
          <p:nvPr/>
        </p:nvGrpSpPr>
        <p:grpSpPr>
          <a:xfrm>
            <a:off x="12586687" y="-1289385"/>
            <a:ext cx="2977778" cy="2578770"/>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8" name="Group 8"/>
          <p:cNvGrpSpPr/>
          <p:nvPr/>
        </p:nvGrpSpPr>
        <p:grpSpPr>
          <a:xfrm>
            <a:off x="13463708" y="-3108651"/>
            <a:ext cx="4201515" cy="3638531"/>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10" name="Group 10"/>
          <p:cNvGrpSpPr/>
          <p:nvPr/>
        </p:nvGrpSpPr>
        <p:grpSpPr>
          <a:xfrm>
            <a:off x="15564465" y="-682670"/>
            <a:ext cx="3286119" cy="2845795"/>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2" name="Freeform 12"/>
          <p:cNvSpPr/>
          <p:nvPr/>
        </p:nvSpPr>
        <p:spPr>
          <a:xfrm>
            <a:off x="1028700" y="2974764"/>
            <a:ext cx="8944536" cy="6283536"/>
          </a:xfrm>
          <a:custGeom>
            <a:avLst/>
            <a:gdLst/>
            <a:ahLst/>
            <a:cxnLst/>
            <a:rect l="l" t="t" r="r" b="b"/>
            <a:pathLst>
              <a:path w="8944536" h="6283536">
                <a:moveTo>
                  <a:pt x="0" y="0"/>
                </a:moveTo>
                <a:lnTo>
                  <a:pt x="8944536" y="0"/>
                </a:lnTo>
                <a:lnTo>
                  <a:pt x="8944536" y="6283536"/>
                </a:lnTo>
                <a:lnTo>
                  <a:pt x="0" y="6283536"/>
                </a:lnTo>
                <a:lnTo>
                  <a:pt x="0" y="0"/>
                </a:lnTo>
                <a:close/>
              </a:path>
            </a:pathLst>
          </a:custGeom>
          <a:blipFill>
            <a:blip r:embed="rId2"/>
            <a:stretch>
              <a:fillRect/>
            </a:stretch>
          </a:blipFill>
        </p:spPr>
        <p:txBody>
          <a:bodyPr/>
          <a:lstStyle/>
          <a:p>
            <a:endParaRPr lang="en-US"/>
          </a:p>
        </p:txBody>
      </p:sp>
      <p:sp>
        <p:nvSpPr>
          <p:cNvPr id="13" name="Freeform 13"/>
          <p:cNvSpPr/>
          <p:nvPr/>
        </p:nvSpPr>
        <p:spPr>
          <a:xfrm>
            <a:off x="10808319" y="2613498"/>
            <a:ext cx="5228328" cy="6425745"/>
          </a:xfrm>
          <a:custGeom>
            <a:avLst/>
            <a:gdLst/>
            <a:ahLst/>
            <a:cxnLst/>
            <a:rect l="l" t="t" r="r" b="b"/>
            <a:pathLst>
              <a:path w="5228328" h="6425745">
                <a:moveTo>
                  <a:pt x="0" y="0"/>
                </a:moveTo>
                <a:lnTo>
                  <a:pt x="5228328" y="0"/>
                </a:lnTo>
                <a:lnTo>
                  <a:pt x="5228328" y="6425745"/>
                </a:lnTo>
                <a:lnTo>
                  <a:pt x="0" y="6425745"/>
                </a:lnTo>
                <a:lnTo>
                  <a:pt x="0" y="0"/>
                </a:lnTo>
                <a:close/>
              </a:path>
            </a:pathLst>
          </a:custGeom>
          <a:blipFill>
            <a:blip r:embed="rId3"/>
            <a:stretch>
              <a:fillRect/>
            </a:stretch>
          </a:blipFill>
        </p:spPr>
        <p:txBody>
          <a:bodyPr/>
          <a:lstStyle/>
          <a:p>
            <a:endParaRPr lang="en-US"/>
          </a:p>
        </p:txBody>
      </p:sp>
      <p:sp>
        <p:nvSpPr>
          <p:cNvPr id="14" name="TextBox 14"/>
          <p:cNvSpPr txBox="1"/>
          <p:nvPr/>
        </p:nvSpPr>
        <p:spPr>
          <a:xfrm>
            <a:off x="1028700"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Thiết kế phần cứng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167026" y="6969319"/>
            <a:ext cx="4201515" cy="3638531"/>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4" name="Group 4"/>
          <p:cNvGrpSpPr/>
          <p:nvPr/>
        </p:nvGrpSpPr>
        <p:grpSpPr>
          <a:xfrm>
            <a:off x="0" y="8864103"/>
            <a:ext cx="3286119" cy="2845795"/>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6" name="Group 6"/>
          <p:cNvGrpSpPr/>
          <p:nvPr/>
        </p:nvGrpSpPr>
        <p:grpSpPr>
          <a:xfrm>
            <a:off x="12586687" y="-1289385"/>
            <a:ext cx="2977778" cy="2578770"/>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8" name="Group 8"/>
          <p:cNvGrpSpPr/>
          <p:nvPr/>
        </p:nvGrpSpPr>
        <p:grpSpPr>
          <a:xfrm>
            <a:off x="13463708" y="-3108651"/>
            <a:ext cx="4201515" cy="3638531"/>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10" name="Group 10"/>
          <p:cNvGrpSpPr/>
          <p:nvPr/>
        </p:nvGrpSpPr>
        <p:grpSpPr>
          <a:xfrm>
            <a:off x="15564465" y="-682670"/>
            <a:ext cx="3286119" cy="2845795"/>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2" name="Freeform 12"/>
          <p:cNvSpPr/>
          <p:nvPr/>
        </p:nvSpPr>
        <p:spPr>
          <a:xfrm>
            <a:off x="4151340" y="3279590"/>
            <a:ext cx="9985319" cy="5978710"/>
          </a:xfrm>
          <a:custGeom>
            <a:avLst/>
            <a:gdLst/>
            <a:ahLst/>
            <a:cxnLst/>
            <a:rect l="l" t="t" r="r" b="b"/>
            <a:pathLst>
              <a:path w="9985319" h="5978710">
                <a:moveTo>
                  <a:pt x="0" y="0"/>
                </a:moveTo>
                <a:lnTo>
                  <a:pt x="9985320" y="0"/>
                </a:lnTo>
                <a:lnTo>
                  <a:pt x="9985320" y="5978710"/>
                </a:lnTo>
                <a:lnTo>
                  <a:pt x="0" y="5978710"/>
                </a:lnTo>
                <a:lnTo>
                  <a:pt x="0" y="0"/>
                </a:lnTo>
                <a:close/>
              </a:path>
            </a:pathLst>
          </a:custGeom>
          <a:blipFill>
            <a:blip r:embed="rId2"/>
            <a:stretch>
              <a:fillRect/>
            </a:stretch>
          </a:blipFill>
        </p:spPr>
        <p:txBody>
          <a:bodyPr/>
          <a:lstStyle/>
          <a:p>
            <a:endParaRPr lang="en-US"/>
          </a:p>
        </p:txBody>
      </p:sp>
      <p:sp>
        <p:nvSpPr>
          <p:cNvPr id="13" name="TextBox 13"/>
          <p:cNvSpPr txBox="1"/>
          <p:nvPr/>
        </p:nvSpPr>
        <p:spPr>
          <a:xfrm>
            <a:off x="1028700"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Thiết kế phần cứng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8" name="Freeform 8"/>
          <p:cNvSpPr/>
          <p:nvPr/>
        </p:nvSpPr>
        <p:spPr>
          <a:xfrm>
            <a:off x="1465393" y="3327604"/>
            <a:ext cx="15357214" cy="4357609"/>
          </a:xfrm>
          <a:custGeom>
            <a:avLst/>
            <a:gdLst/>
            <a:ahLst/>
            <a:cxnLst/>
            <a:rect l="l" t="t" r="r" b="b"/>
            <a:pathLst>
              <a:path w="15357214" h="4357609">
                <a:moveTo>
                  <a:pt x="0" y="0"/>
                </a:moveTo>
                <a:lnTo>
                  <a:pt x="15357214" y="0"/>
                </a:lnTo>
                <a:lnTo>
                  <a:pt x="15357214" y="4357610"/>
                </a:lnTo>
                <a:lnTo>
                  <a:pt x="0" y="4357610"/>
                </a:lnTo>
                <a:lnTo>
                  <a:pt x="0" y="0"/>
                </a:lnTo>
                <a:close/>
              </a:path>
            </a:pathLst>
          </a:custGeom>
          <a:blipFill>
            <a:blip r:embed="rId2"/>
            <a:stretch>
              <a:fillRect/>
            </a:stretch>
          </a:blipFill>
        </p:spPr>
        <p:txBody>
          <a:bodyPr/>
          <a:lstStyle/>
          <a:p>
            <a:endParaRPr lang="en-US"/>
          </a:p>
        </p:txBody>
      </p:sp>
      <p:sp>
        <p:nvSpPr>
          <p:cNvPr id="9" name="TextBox 9"/>
          <p:cNvSpPr txBox="1"/>
          <p:nvPr/>
        </p:nvSpPr>
        <p:spPr>
          <a:xfrm>
            <a:off x="1028700" y="1038225"/>
            <a:ext cx="15370998"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Thiết kế trang web điều khiển</a:t>
            </a:r>
          </a:p>
        </p:txBody>
      </p:sp>
      <p:sp>
        <p:nvSpPr>
          <p:cNvPr id="10" name="TextBox 10"/>
          <p:cNvSpPr txBox="1"/>
          <p:nvPr/>
        </p:nvSpPr>
        <p:spPr>
          <a:xfrm>
            <a:off x="8121253" y="7799903"/>
            <a:ext cx="2045494" cy="495301"/>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Muli"/>
                <a:ea typeface="Muli"/>
                <a:cs typeface="Muli"/>
                <a:sym typeface="Muli"/>
              </a:rPr>
              <a:t>Home page</a:t>
            </a:r>
          </a:p>
        </p:txBody>
      </p:sp>
      <p:grpSp>
        <p:nvGrpSpPr>
          <p:cNvPr id="11" name="Group 11"/>
          <p:cNvGrpSpPr/>
          <p:nvPr/>
        </p:nvGrpSpPr>
        <p:grpSpPr>
          <a:xfrm>
            <a:off x="-1341684" y="8601247"/>
            <a:ext cx="2977778" cy="2578770"/>
            <a:chOff x="0" y="0"/>
            <a:chExt cx="3619627" cy="3134614"/>
          </a:xfrm>
        </p:grpSpPr>
        <p:sp>
          <p:nvSpPr>
            <p:cNvPr id="12" name="Freeform 12"/>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3" name="Group 13"/>
          <p:cNvGrpSpPr/>
          <p:nvPr/>
        </p:nvGrpSpPr>
        <p:grpSpPr>
          <a:xfrm>
            <a:off x="887982" y="9102279"/>
            <a:ext cx="1820667" cy="1576706"/>
            <a:chOff x="0" y="0"/>
            <a:chExt cx="3619627" cy="3134614"/>
          </a:xfrm>
        </p:grpSpPr>
        <p:sp>
          <p:nvSpPr>
            <p:cNvPr id="14" name="Freeform 1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2" name="Freeform 12"/>
          <p:cNvSpPr/>
          <p:nvPr/>
        </p:nvSpPr>
        <p:spPr>
          <a:xfrm>
            <a:off x="1465393" y="2685309"/>
            <a:ext cx="6398713" cy="5915938"/>
          </a:xfrm>
          <a:custGeom>
            <a:avLst/>
            <a:gdLst/>
            <a:ahLst/>
            <a:cxnLst/>
            <a:rect l="l" t="t" r="r" b="b"/>
            <a:pathLst>
              <a:path w="6398713" h="5915938">
                <a:moveTo>
                  <a:pt x="0" y="0"/>
                </a:moveTo>
                <a:lnTo>
                  <a:pt x="6398713" y="0"/>
                </a:lnTo>
                <a:lnTo>
                  <a:pt x="6398713" y="5915938"/>
                </a:lnTo>
                <a:lnTo>
                  <a:pt x="0" y="5915938"/>
                </a:lnTo>
                <a:lnTo>
                  <a:pt x="0" y="0"/>
                </a:lnTo>
                <a:close/>
              </a:path>
            </a:pathLst>
          </a:custGeom>
          <a:blipFill>
            <a:blip r:embed="rId2"/>
            <a:stretch>
              <a:fillRect l="-96272" r="-93782"/>
            </a:stretch>
          </a:blipFill>
        </p:spPr>
        <p:txBody>
          <a:bodyPr/>
          <a:lstStyle/>
          <a:p>
            <a:endParaRPr lang="en-US"/>
          </a:p>
        </p:txBody>
      </p:sp>
      <p:sp>
        <p:nvSpPr>
          <p:cNvPr id="13" name="Freeform 13"/>
          <p:cNvSpPr/>
          <p:nvPr/>
        </p:nvSpPr>
        <p:spPr>
          <a:xfrm>
            <a:off x="9824024" y="3357416"/>
            <a:ext cx="6398713" cy="4571724"/>
          </a:xfrm>
          <a:custGeom>
            <a:avLst/>
            <a:gdLst/>
            <a:ahLst/>
            <a:cxnLst/>
            <a:rect l="l" t="t" r="r" b="b"/>
            <a:pathLst>
              <a:path w="6398713" h="4571724">
                <a:moveTo>
                  <a:pt x="0" y="0"/>
                </a:moveTo>
                <a:lnTo>
                  <a:pt x="6398713" y="0"/>
                </a:lnTo>
                <a:lnTo>
                  <a:pt x="6398713" y="4571724"/>
                </a:lnTo>
                <a:lnTo>
                  <a:pt x="0" y="4571724"/>
                </a:lnTo>
                <a:lnTo>
                  <a:pt x="0" y="0"/>
                </a:lnTo>
                <a:close/>
              </a:path>
            </a:pathLst>
          </a:custGeom>
          <a:blipFill>
            <a:blip r:embed="rId3"/>
            <a:stretch>
              <a:fillRect l="-86127" r="-83485"/>
            </a:stretch>
          </a:blipFill>
        </p:spPr>
        <p:txBody>
          <a:bodyPr/>
          <a:lstStyle/>
          <a:p>
            <a:endParaRPr lang="en-US"/>
          </a:p>
        </p:txBody>
      </p:sp>
      <p:sp>
        <p:nvSpPr>
          <p:cNvPr id="14" name="TextBox 14"/>
          <p:cNvSpPr txBox="1"/>
          <p:nvPr/>
        </p:nvSpPr>
        <p:spPr>
          <a:xfrm>
            <a:off x="1465393" y="1038225"/>
            <a:ext cx="1579390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Thiết kế trang web điều khiển</a:t>
            </a:r>
          </a:p>
        </p:txBody>
      </p:sp>
      <p:sp>
        <p:nvSpPr>
          <p:cNvPr id="15" name="TextBox 15"/>
          <p:cNvSpPr txBox="1"/>
          <p:nvPr/>
        </p:nvSpPr>
        <p:spPr>
          <a:xfrm>
            <a:off x="3558890" y="8762999"/>
            <a:ext cx="2421880" cy="495301"/>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Muli"/>
                <a:ea typeface="Muli"/>
                <a:cs typeface="Muli"/>
                <a:sym typeface="Muli"/>
              </a:rPr>
              <a:t>Sign up page </a:t>
            </a:r>
          </a:p>
        </p:txBody>
      </p:sp>
      <p:sp>
        <p:nvSpPr>
          <p:cNvPr id="16" name="TextBox 16"/>
          <p:cNvSpPr txBox="1"/>
          <p:nvPr/>
        </p:nvSpPr>
        <p:spPr>
          <a:xfrm>
            <a:off x="11942516" y="8830816"/>
            <a:ext cx="2161729" cy="495301"/>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Muli"/>
                <a:ea typeface="Muli"/>
                <a:cs typeface="Muli"/>
                <a:sym typeface="Muli"/>
              </a:rPr>
              <a:t>Log in page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2" name="Freeform 12"/>
          <p:cNvSpPr/>
          <p:nvPr/>
        </p:nvSpPr>
        <p:spPr>
          <a:xfrm>
            <a:off x="2089629" y="2851934"/>
            <a:ext cx="14108742" cy="5749313"/>
          </a:xfrm>
          <a:custGeom>
            <a:avLst/>
            <a:gdLst/>
            <a:ahLst/>
            <a:cxnLst/>
            <a:rect l="l" t="t" r="r" b="b"/>
            <a:pathLst>
              <a:path w="14108742" h="5749313">
                <a:moveTo>
                  <a:pt x="0" y="0"/>
                </a:moveTo>
                <a:lnTo>
                  <a:pt x="14108742" y="0"/>
                </a:lnTo>
                <a:lnTo>
                  <a:pt x="14108742" y="5749313"/>
                </a:lnTo>
                <a:lnTo>
                  <a:pt x="0" y="5749313"/>
                </a:lnTo>
                <a:lnTo>
                  <a:pt x="0" y="0"/>
                </a:lnTo>
                <a:close/>
              </a:path>
            </a:pathLst>
          </a:custGeom>
          <a:blipFill>
            <a:blip r:embed="rId2"/>
            <a:stretch>
              <a:fillRect/>
            </a:stretch>
          </a:blipFill>
        </p:spPr>
        <p:txBody>
          <a:bodyPr/>
          <a:lstStyle/>
          <a:p>
            <a:endParaRPr lang="en-US"/>
          </a:p>
        </p:txBody>
      </p:sp>
      <p:sp>
        <p:nvSpPr>
          <p:cNvPr id="13" name="TextBox 13"/>
          <p:cNvSpPr txBox="1"/>
          <p:nvPr/>
        </p:nvSpPr>
        <p:spPr>
          <a:xfrm>
            <a:off x="1465393" y="1038225"/>
            <a:ext cx="1579390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Thiết kế trang web điều khiển</a:t>
            </a:r>
          </a:p>
        </p:txBody>
      </p:sp>
      <p:sp>
        <p:nvSpPr>
          <p:cNvPr id="14" name="TextBox 14"/>
          <p:cNvSpPr txBox="1"/>
          <p:nvPr/>
        </p:nvSpPr>
        <p:spPr>
          <a:xfrm>
            <a:off x="8214345" y="8762999"/>
            <a:ext cx="1859310" cy="495301"/>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Muli"/>
                <a:ea typeface="Muli"/>
                <a:cs typeface="Muli"/>
                <a:sym typeface="Muli"/>
              </a:rPr>
              <a:t>Main page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151770" y="4201140"/>
            <a:ext cx="7027514" cy="608586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4778677" y="-533331"/>
            <a:ext cx="4961246" cy="4296462"/>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028700" y="1028700"/>
            <a:ext cx="4212844" cy="586200"/>
            <a:chOff x="0" y="0"/>
            <a:chExt cx="5617125" cy="781600"/>
          </a:xfrm>
        </p:grpSpPr>
        <p:sp>
          <p:nvSpPr>
            <p:cNvPr id="7" name="TextBox 7"/>
            <p:cNvSpPr txBox="1"/>
            <p:nvPr/>
          </p:nvSpPr>
          <p:spPr>
            <a:xfrm>
              <a:off x="1293956" y="104415"/>
              <a:ext cx="4323169" cy="525145"/>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Muli Bold"/>
                  <a:ea typeface="Muli Bold"/>
                  <a:cs typeface="Muli Bold"/>
                  <a:sym typeface="Muli Bold"/>
                </a:rPr>
                <a:t>Nhóm 6</a:t>
              </a:r>
            </a:p>
          </p:txBody>
        </p:sp>
        <p:sp>
          <p:nvSpPr>
            <p:cNvPr id="8" name="Freeform 8"/>
            <p:cNvSpPr/>
            <p:nvPr/>
          </p:nvSpPr>
          <p:spPr>
            <a:xfrm>
              <a:off x="0" y="0"/>
              <a:ext cx="905010" cy="781600"/>
            </a:xfrm>
            <a:custGeom>
              <a:avLst/>
              <a:gdLst/>
              <a:ahLst/>
              <a:cxnLst/>
              <a:rect l="l" t="t" r="r" b="b"/>
              <a:pathLst>
                <a:path w="905010" h="781600">
                  <a:moveTo>
                    <a:pt x="0" y="0"/>
                  </a:moveTo>
                  <a:lnTo>
                    <a:pt x="905010" y="0"/>
                  </a:lnTo>
                  <a:lnTo>
                    <a:pt x="905010" y="781600"/>
                  </a:lnTo>
                  <a:lnTo>
                    <a:pt x="0" y="781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9" name="Group 9"/>
          <p:cNvGrpSpPr/>
          <p:nvPr/>
        </p:nvGrpSpPr>
        <p:grpSpPr>
          <a:xfrm>
            <a:off x="12307026" y="2100570"/>
            <a:ext cx="7027514" cy="6085860"/>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1" name="Group 11"/>
          <p:cNvGrpSpPr>
            <a:grpSpLocks noChangeAspect="1"/>
          </p:cNvGrpSpPr>
          <p:nvPr/>
        </p:nvGrpSpPr>
        <p:grpSpPr>
          <a:xfrm>
            <a:off x="9144000" y="1847872"/>
            <a:ext cx="7611546" cy="6591255"/>
            <a:chOff x="0" y="0"/>
            <a:chExt cx="4282440" cy="3708400"/>
          </a:xfrm>
        </p:grpSpPr>
        <p:sp>
          <p:nvSpPr>
            <p:cNvPr id="12" name="Freeform 12"/>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3786" r="-3786"/>
              </a:stretch>
            </a:blipFill>
          </p:spPr>
          <p:txBody>
            <a:bodyPr/>
            <a:lstStyle/>
            <a:p>
              <a:endParaRPr lang="en-US"/>
            </a:p>
          </p:txBody>
        </p:sp>
      </p:grpSp>
      <p:grpSp>
        <p:nvGrpSpPr>
          <p:cNvPr id="13" name="Group 13"/>
          <p:cNvGrpSpPr/>
          <p:nvPr/>
        </p:nvGrpSpPr>
        <p:grpSpPr>
          <a:xfrm>
            <a:off x="1028700" y="3516053"/>
            <a:ext cx="8548613" cy="3581811"/>
            <a:chOff x="0" y="0"/>
            <a:chExt cx="11398150" cy="4775748"/>
          </a:xfrm>
        </p:grpSpPr>
        <p:sp>
          <p:nvSpPr>
            <p:cNvPr id="14" name="TextBox 14"/>
            <p:cNvSpPr txBox="1"/>
            <p:nvPr/>
          </p:nvSpPr>
          <p:spPr>
            <a:xfrm>
              <a:off x="0" y="0"/>
              <a:ext cx="11398150" cy="3937000"/>
            </a:xfrm>
            <a:prstGeom prst="rect">
              <a:avLst/>
            </a:prstGeom>
          </p:spPr>
          <p:txBody>
            <a:bodyPr lIns="0" tIns="0" rIns="0" bIns="0" rtlCol="0" anchor="t">
              <a:spAutoFit/>
            </a:bodyPr>
            <a:lstStyle/>
            <a:p>
              <a:pPr algn="l">
                <a:lnSpc>
                  <a:spcPts val="11639"/>
                </a:lnSpc>
                <a:spcBef>
                  <a:spcPct val="0"/>
                </a:spcBef>
              </a:pPr>
              <a:r>
                <a:rPr lang="en-US" sz="9699" b="1" spc="-96">
                  <a:solidFill>
                    <a:srgbClr val="000000"/>
                  </a:solidFill>
                  <a:latin typeface="Muli Bold"/>
                  <a:ea typeface="Muli Bold"/>
                  <a:cs typeface="Muli Bold"/>
                  <a:sym typeface="Muli Bold"/>
                </a:rPr>
                <a:t>DANH SÁCH THIẾT BỊ</a:t>
              </a:r>
            </a:p>
          </p:txBody>
        </p:sp>
        <p:sp>
          <p:nvSpPr>
            <p:cNvPr id="15" name="TextBox 15"/>
            <p:cNvSpPr txBox="1"/>
            <p:nvPr/>
          </p:nvSpPr>
          <p:spPr>
            <a:xfrm>
              <a:off x="0" y="4153024"/>
              <a:ext cx="10211298" cy="622724"/>
            </a:xfrm>
            <a:prstGeom prst="rect">
              <a:avLst/>
            </a:prstGeom>
          </p:spPr>
          <p:txBody>
            <a:bodyPr lIns="0" tIns="0" rIns="0" bIns="0" rtlCol="0" anchor="t">
              <a:spAutoFit/>
            </a:bodyPr>
            <a:lstStyle/>
            <a:p>
              <a:pPr algn="l">
                <a:lnSpc>
                  <a:spcPts val="3919"/>
                </a:lnSpc>
              </a:pPr>
              <a:endParaRPr/>
            </a:p>
          </p:txBody>
        </p:sp>
      </p:grpSp>
      <p:grpSp>
        <p:nvGrpSpPr>
          <p:cNvPr id="16" name="Group 16"/>
          <p:cNvGrpSpPr/>
          <p:nvPr/>
        </p:nvGrpSpPr>
        <p:grpSpPr>
          <a:xfrm>
            <a:off x="-1055648" y="8818705"/>
            <a:ext cx="2111295" cy="1828392"/>
            <a:chOff x="0" y="0"/>
            <a:chExt cx="3619627" cy="3134614"/>
          </a:xfrm>
        </p:grpSpPr>
        <p:sp>
          <p:nvSpPr>
            <p:cNvPr id="17" name="Freeform 1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8" name="Group 18"/>
          <p:cNvGrpSpPr/>
          <p:nvPr/>
        </p:nvGrpSpPr>
        <p:grpSpPr>
          <a:xfrm>
            <a:off x="756188" y="7409044"/>
            <a:ext cx="2378934" cy="2060168"/>
            <a:chOff x="0" y="0"/>
            <a:chExt cx="3619627" cy="3134614"/>
          </a:xfrm>
        </p:grpSpPr>
        <p:sp>
          <p:nvSpPr>
            <p:cNvPr id="19" name="Freeform 1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20" name="Group 20"/>
          <p:cNvGrpSpPr/>
          <p:nvPr/>
        </p:nvGrpSpPr>
        <p:grpSpPr>
          <a:xfrm>
            <a:off x="1028700" y="9732901"/>
            <a:ext cx="2872330" cy="2487452"/>
            <a:chOff x="0" y="0"/>
            <a:chExt cx="3619627" cy="3134614"/>
          </a:xfrm>
        </p:grpSpPr>
        <p:sp>
          <p:nvSpPr>
            <p:cNvPr id="21" name="Freeform 2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2" name="Freeform 12"/>
          <p:cNvSpPr/>
          <p:nvPr/>
        </p:nvSpPr>
        <p:spPr>
          <a:xfrm>
            <a:off x="1224838" y="2850639"/>
            <a:ext cx="4571372" cy="4571372"/>
          </a:xfrm>
          <a:custGeom>
            <a:avLst/>
            <a:gdLst/>
            <a:ahLst/>
            <a:cxnLst/>
            <a:rect l="l" t="t" r="r" b="b"/>
            <a:pathLst>
              <a:path w="4571372" h="4571372">
                <a:moveTo>
                  <a:pt x="0" y="0"/>
                </a:moveTo>
                <a:lnTo>
                  <a:pt x="4571372" y="0"/>
                </a:lnTo>
                <a:lnTo>
                  <a:pt x="4571372" y="4571372"/>
                </a:lnTo>
                <a:lnTo>
                  <a:pt x="0" y="4571372"/>
                </a:lnTo>
                <a:lnTo>
                  <a:pt x="0" y="0"/>
                </a:lnTo>
                <a:close/>
              </a:path>
            </a:pathLst>
          </a:custGeom>
          <a:blipFill>
            <a:blip r:embed="rId2"/>
            <a:stretch>
              <a:fillRect/>
            </a:stretch>
          </a:blipFill>
        </p:spPr>
        <p:txBody>
          <a:bodyPr/>
          <a:lstStyle/>
          <a:p>
            <a:endParaRPr lang="en-US"/>
          </a:p>
        </p:txBody>
      </p:sp>
      <p:sp>
        <p:nvSpPr>
          <p:cNvPr id="13" name="Freeform 13"/>
          <p:cNvSpPr/>
          <p:nvPr/>
        </p:nvSpPr>
        <p:spPr>
          <a:xfrm>
            <a:off x="6956383" y="2857814"/>
            <a:ext cx="4571372" cy="4571372"/>
          </a:xfrm>
          <a:custGeom>
            <a:avLst/>
            <a:gdLst/>
            <a:ahLst/>
            <a:cxnLst/>
            <a:rect l="l" t="t" r="r" b="b"/>
            <a:pathLst>
              <a:path w="4571372" h="4571372">
                <a:moveTo>
                  <a:pt x="0" y="0"/>
                </a:moveTo>
                <a:lnTo>
                  <a:pt x="4571372" y="0"/>
                </a:lnTo>
                <a:lnTo>
                  <a:pt x="4571372" y="4571372"/>
                </a:lnTo>
                <a:lnTo>
                  <a:pt x="0" y="4571372"/>
                </a:lnTo>
                <a:lnTo>
                  <a:pt x="0" y="0"/>
                </a:lnTo>
                <a:close/>
              </a:path>
            </a:pathLst>
          </a:custGeom>
          <a:blipFill>
            <a:blip r:embed="rId3"/>
            <a:stretch>
              <a:fillRect/>
            </a:stretch>
          </a:blipFill>
        </p:spPr>
        <p:txBody>
          <a:bodyPr/>
          <a:lstStyle/>
          <a:p>
            <a:endParaRPr lang="en-US"/>
          </a:p>
        </p:txBody>
      </p:sp>
      <p:sp>
        <p:nvSpPr>
          <p:cNvPr id="14" name="Freeform 14"/>
          <p:cNvSpPr/>
          <p:nvPr/>
        </p:nvSpPr>
        <p:spPr>
          <a:xfrm>
            <a:off x="12687928" y="2857814"/>
            <a:ext cx="4571372" cy="4571372"/>
          </a:xfrm>
          <a:custGeom>
            <a:avLst/>
            <a:gdLst/>
            <a:ahLst/>
            <a:cxnLst/>
            <a:rect l="l" t="t" r="r" b="b"/>
            <a:pathLst>
              <a:path w="4571372" h="4571372">
                <a:moveTo>
                  <a:pt x="0" y="0"/>
                </a:moveTo>
                <a:lnTo>
                  <a:pt x="4571372" y="0"/>
                </a:lnTo>
                <a:lnTo>
                  <a:pt x="4571372" y="4571372"/>
                </a:lnTo>
                <a:lnTo>
                  <a:pt x="0" y="4571372"/>
                </a:lnTo>
                <a:lnTo>
                  <a:pt x="0" y="0"/>
                </a:lnTo>
                <a:close/>
              </a:path>
            </a:pathLst>
          </a:custGeom>
          <a:blipFill>
            <a:blip r:embed="rId4"/>
            <a:stretch>
              <a:fillRect/>
            </a:stretch>
          </a:blipFill>
        </p:spPr>
        <p:txBody>
          <a:bodyPr/>
          <a:lstStyle/>
          <a:p>
            <a:endParaRPr lang="en-US"/>
          </a:p>
        </p:txBody>
      </p:sp>
      <p:sp>
        <p:nvSpPr>
          <p:cNvPr id="15" name="TextBox 15"/>
          <p:cNvSpPr txBox="1"/>
          <p:nvPr/>
        </p:nvSpPr>
        <p:spPr>
          <a:xfrm>
            <a:off x="1465393"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Danh sách các thiết bị</a:t>
            </a:r>
          </a:p>
        </p:txBody>
      </p:sp>
      <p:sp>
        <p:nvSpPr>
          <p:cNvPr id="16" name="TextBox 16"/>
          <p:cNvSpPr txBox="1"/>
          <p:nvPr/>
        </p:nvSpPr>
        <p:spPr>
          <a:xfrm>
            <a:off x="1224838" y="7730384"/>
            <a:ext cx="4571372"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Kit RF Thu Phát Wifi ESP8266 NodeMCU Lua V3 CH340</a:t>
            </a:r>
          </a:p>
        </p:txBody>
      </p:sp>
      <p:sp>
        <p:nvSpPr>
          <p:cNvPr id="17" name="TextBox 17"/>
          <p:cNvSpPr txBox="1"/>
          <p:nvPr/>
        </p:nvSpPr>
        <p:spPr>
          <a:xfrm>
            <a:off x="6956383" y="7730384"/>
            <a:ext cx="4571372"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Cảm biến độ ẩm đất Soil Moisture Sensor</a:t>
            </a:r>
          </a:p>
        </p:txBody>
      </p:sp>
      <p:sp>
        <p:nvSpPr>
          <p:cNvPr id="18" name="TextBox 18"/>
          <p:cNvSpPr txBox="1"/>
          <p:nvPr/>
        </p:nvSpPr>
        <p:spPr>
          <a:xfrm>
            <a:off x="12586687" y="7730384"/>
            <a:ext cx="4672613"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Động cơ bơm chìm Mini Water Pump 5VDC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2" name="Group 12"/>
          <p:cNvGrpSpPr/>
          <p:nvPr/>
        </p:nvGrpSpPr>
        <p:grpSpPr>
          <a:xfrm>
            <a:off x="1224838" y="2977688"/>
            <a:ext cx="4571372" cy="4571372"/>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t="-1975" b="-1975"/>
              </a:stretch>
            </a:blipFill>
          </p:spPr>
          <p:txBody>
            <a:bodyPr/>
            <a:lstStyle/>
            <a:p>
              <a:endParaRPr lang="en-US"/>
            </a:p>
          </p:txBody>
        </p:sp>
      </p:grpSp>
      <p:grpSp>
        <p:nvGrpSpPr>
          <p:cNvPr id="14" name="Group 14"/>
          <p:cNvGrpSpPr/>
          <p:nvPr/>
        </p:nvGrpSpPr>
        <p:grpSpPr>
          <a:xfrm>
            <a:off x="6905763" y="2857814"/>
            <a:ext cx="4571372" cy="4571372"/>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17291" r="-17291"/>
              </a:stretch>
            </a:blipFill>
          </p:spPr>
          <p:txBody>
            <a:bodyPr/>
            <a:lstStyle/>
            <a:p>
              <a:endParaRPr lang="en-US"/>
            </a:p>
          </p:txBody>
        </p:sp>
      </p:grpSp>
      <p:grpSp>
        <p:nvGrpSpPr>
          <p:cNvPr id="16" name="Group 16"/>
          <p:cNvGrpSpPr/>
          <p:nvPr/>
        </p:nvGrpSpPr>
        <p:grpSpPr>
          <a:xfrm>
            <a:off x="12586687" y="2977688"/>
            <a:ext cx="4571372" cy="4571372"/>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a:stretch>
            </a:blipFill>
          </p:spPr>
          <p:txBody>
            <a:bodyPr/>
            <a:lstStyle/>
            <a:p>
              <a:endParaRPr lang="en-US"/>
            </a:p>
          </p:txBody>
        </p:sp>
      </p:grpSp>
      <p:sp>
        <p:nvSpPr>
          <p:cNvPr id="18" name="TextBox 18"/>
          <p:cNvSpPr txBox="1"/>
          <p:nvPr/>
        </p:nvSpPr>
        <p:spPr>
          <a:xfrm>
            <a:off x="1465393"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Danh sách các thiết bị</a:t>
            </a:r>
          </a:p>
        </p:txBody>
      </p:sp>
      <p:sp>
        <p:nvSpPr>
          <p:cNvPr id="19" name="TextBox 19"/>
          <p:cNvSpPr txBox="1"/>
          <p:nvPr/>
        </p:nvSpPr>
        <p:spPr>
          <a:xfrm>
            <a:off x="1224838" y="7730384"/>
            <a:ext cx="4571372"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Dây Cắm Breadboard đực đực 20cm 40 sợi</a:t>
            </a:r>
          </a:p>
        </p:txBody>
      </p:sp>
      <p:sp>
        <p:nvSpPr>
          <p:cNvPr id="20" name="TextBox 20"/>
          <p:cNvSpPr txBox="1"/>
          <p:nvPr/>
        </p:nvSpPr>
        <p:spPr>
          <a:xfrm>
            <a:off x="6855142" y="7730384"/>
            <a:ext cx="4571372" cy="1054100"/>
          </a:xfrm>
          <a:prstGeom prst="rect">
            <a:avLst/>
          </a:prstGeom>
        </p:spPr>
        <p:txBody>
          <a:bodyPr lIns="0" tIns="0" rIns="0" bIns="0" rtlCol="0" anchor="t">
            <a:spAutoFit/>
          </a:bodyPr>
          <a:lstStyle/>
          <a:p>
            <a:pPr algn="ctr">
              <a:lnSpc>
                <a:spcPts val="2800"/>
              </a:lnSpc>
            </a:pPr>
            <a:r>
              <a:rPr lang="en-US" sz="2000">
                <a:solidFill>
                  <a:srgbClr val="000000"/>
                </a:solidFill>
                <a:latin typeface="Muli"/>
                <a:ea typeface="Muli"/>
                <a:cs typeface="Muli"/>
                <a:sym typeface="Muli"/>
              </a:rPr>
              <a:t>Dây Cắm Breadboard đực cái 20cm 40 sợi</a:t>
            </a:r>
          </a:p>
          <a:p>
            <a:pPr algn="ctr">
              <a:lnSpc>
                <a:spcPts val="2800"/>
              </a:lnSpc>
              <a:spcBef>
                <a:spcPct val="0"/>
              </a:spcBef>
            </a:pPr>
            <a:endParaRPr lang="en-US" sz="2000">
              <a:solidFill>
                <a:srgbClr val="000000"/>
              </a:solidFill>
              <a:latin typeface="Muli"/>
              <a:ea typeface="Muli"/>
              <a:cs typeface="Muli"/>
              <a:sym typeface="Muli"/>
            </a:endParaRPr>
          </a:p>
        </p:txBody>
      </p:sp>
      <p:sp>
        <p:nvSpPr>
          <p:cNvPr id="21" name="TextBox 21"/>
          <p:cNvSpPr txBox="1"/>
          <p:nvPr/>
        </p:nvSpPr>
        <p:spPr>
          <a:xfrm>
            <a:off x="12485447" y="7730384"/>
            <a:ext cx="4672613" cy="1054100"/>
          </a:xfrm>
          <a:prstGeom prst="rect">
            <a:avLst/>
          </a:prstGeom>
        </p:spPr>
        <p:txBody>
          <a:bodyPr lIns="0" tIns="0" rIns="0" bIns="0" rtlCol="0" anchor="t">
            <a:spAutoFit/>
          </a:bodyPr>
          <a:lstStyle/>
          <a:p>
            <a:pPr algn="ctr">
              <a:lnSpc>
                <a:spcPts val="2800"/>
              </a:lnSpc>
            </a:pPr>
            <a:r>
              <a:rPr lang="en-US" sz="2000">
                <a:solidFill>
                  <a:srgbClr val="000000"/>
                </a:solidFill>
                <a:latin typeface="Muli"/>
                <a:ea typeface="Muli"/>
                <a:cs typeface="Muli"/>
                <a:sym typeface="Muli"/>
              </a:rPr>
              <a:t>Dây Cắm Breadboard cái cái 20cm 40 sợi</a:t>
            </a:r>
          </a:p>
          <a:p>
            <a:pPr algn="ctr">
              <a:lnSpc>
                <a:spcPts val="2800"/>
              </a:lnSpc>
              <a:spcBef>
                <a:spcPct val="0"/>
              </a:spcBef>
            </a:pPr>
            <a:endParaRPr lang="en-US" sz="2000">
              <a:solidFill>
                <a:srgbClr val="000000"/>
              </a:solidFill>
              <a:latin typeface="Muli"/>
              <a:ea typeface="Muli"/>
              <a:cs typeface="Muli"/>
              <a:sym typeface="Mul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2" name="Group 12"/>
          <p:cNvGrpSpPr/>
          <p:nvPr/>
        </p:nvGrpSpPr>
        <p:grpSpPr>
          <a:xfrm>
            <a:off x="1224838" y="2977688"/>
            <a:ext cx="4571372" cy="4571372"/>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a:stretch>
            </a:blipFill>
          </p:spPr>
          <p:txBody>
            <a:bodyPr/>
            <a:lstStyle/>
            <a:p>
              <a:endParaRPr lang="en-US"/>
            </a:p>
          </p:txBody>
        </p:sp>
      </p:grpSp>
      <p:grpSp>
        <p:nvGrpSpPr>
          <p:cNvPr id="14" name="Group 14"/>
          <p:cNvGrpSpPr/>
          <p:nvPr/>
        </p:nvGrpSpPr>
        <p:grpSpPr>
          <a:xfrm>
            <a:off x="6905763" y="2857814"/>
            <a:ext cx="4571372" cy="4571372"/>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a:stretch>
            </a:blipFill>
          </p:spPr>
          <p:txBody>
            <a:bodyPr/>
            <a:lstStyle/>
            <a:p>
              <a:endParaRPr lang="en-US"/>
            </a:p>
          </p:txBody>
        </p:sp>
      </p:grpSp>
      <p:grpSp>
        <p:nvGrpSpPr>
          <p:cNvPr id="16" name="Group 16"/>
          <p:cNvGrpSpPr/>
          <p:nvPr/>
        </p:nvGrpSpPr>
        <p:grpSpPr>
          <a:xfrm>
            <a:off x="12586687" y="2977688"/>
            <a:ext cx="4571372" cy="4571372"/>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a:stretch>
            </a:blipFill>
          </p:spPr>
          <p:txBody>
            <a:bodyPr/>
            <a:lstStyle/>
            <a:p>
              <a:endParaRPr lang="en-US"/>
            </a:p>
          </p:txBody>
        </p:sp>
      </p:grpSp>
      <p:sp>
        <p:nvSpPr>
          <p:cNvPr id="18" name="TextBox 18"/>
          <p:cNvSpPr txBox="1"/>
          <p:nvPr/>
        </p:nvSpPr>
        <p:spPr>
          <a:xfrm>
            <a:off x="1465393"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Danh sách các thiết bị</a:t>
            </a:r>
          </a:p>
        </p:txBody>
      </p:sp>
      <p:sp>
        <p:nvSpPr>
          <p:cNvPr id="19" name="TextBox 19"/>
          <p:cNvSpPr txBox="1"/>
          <p:nvPr/>
        </p:nvSpPr>
        <p:spPr>
          <a:xfrm>
            <a:off x="1224838" y="7730384"/>
            <a:ext cx="4571372"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Màn hình LCD Text LCD2004 xanh dương</a:t>
            </a:r>
          </a:p>
        </p:txBody>
      </p:sp>
      <p:sp>
        <p:nvSpPr>
          <p:cNvPr id="20" name="TextBox 20"/>
          <p:cNvSpPr txBox="1"/>
          <p:nvPr/>
        </p:nvSpPr>
        <p:spPr>
          <a:xfrm>
            <a:off x="6855142" y="7730384"/>
            <a:ext cx="4571372"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Mạch chuyển giao tiếp LCD1602, LCD1604, LCD2004 sang I2C</a:t>
            </a:r>
          </a:p>
        </p:txBody>
      </p:sp>
      <p:sp>
        <p:nvSpPr>
          <p:cNvPr id="21" name="TextBox 21"/>
          <p:cNvSpPr txBox="1"/>
          <p:nvPr/>
        </p:nvSpPr>
        <p:spPr>
          <a:xfrm>
            <a:off x="12485447" y="7730384"/>
            <a:ext cx="4672613" cy="34925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Nút Nhấn 4 Chân Vuông Đen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2" name="Group 12"/>
          <p:cNvGrpSpPr/>
          <p:nvPr/>
        </p:nvGrpSpPr>
        <p:grpSpPr>
          <a:xfrm>
            <a:off x="1224838" y="2977688"/>
            <a:ext cx="4571372" cy="4571372"/>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11475" r="-11475"/>
              </a:stretch>
            </a:blipFill>
          </p:spPr>
          <p:txBody>
            <a:bodyPr/>
            <a:lstStyle/>
            <a:p>
              <a:endParaRPr lang="en-US"/>
            </a:p>
          </p:txBody>
        </p:sp>
      </p:grpSp>
      <p:grpSp>
        <p:nvGrpSpPr>
          <p:cNvPr id="14" name="Group 14"/>
          <p:cNvGrpSpPr/>
          <p:nvPr/>
        </p:nvGrpSpPr>
        <p:grpSpPr>
          <a:xfrm>
            <a:off x="6905763" y="2857814"/>
            <a:ext cx="4571372" cy="4571372"/>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103879" t="-143165" r="-101030"/>
              </a:stretch>
            </a:blipFill>
          </p:spPr>
          <p:txBody>
            <a:bodyPr/>
            <a:lstStyle/>
            <a:p>
              <a:endParaRPr lang="en-US"/>
            </a:p>
          </p:txBody>
        </p:sp>
      </p:grpSp>
      <p:grpSp>
        <p:nvGrpSpPr>
          <p:cNvPr id="16" name="Group 16"/>
          <p:cNvGrpSpPr/>
          <p:nvPr/>
        </p:nvGrpSpPr>
        <p:grpSpPr>
          <a:xfrm>
            <a:off x="12586687" y="2977688"/>
            <a:ext cx="4571372" cy="4571372"/>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a:stretch>
            </a:blipFill>
          </p:spPr>
          <p:txBody>
            <a:bodyPr/>
            <a:lstStyle/>
            <a:p>
              <a:endParaRPr lang="en-US"/>
            </a:p>
          </p:txBody>
        </p:sp>
      </p:grpSp>
      <p:sp>
        <p:nvSpPr>
          <p:cNvPr id="18" name="TextBox 18"/>
          <p:cNvSpPr txBox="1"/>
          <p:nvPr/>
        </p:nvSpPr>
        <p:spPr>
          <a:xfrm>
            <a:off x="1465393"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Danh sách các thiết bị</a:t>
            </a:r>
          </a:p>
        </p:txBody>
      </p:sp>
      <p:sp>
        <p:nvSpPr>
          <p:cNvPr id="19" name="TextBox 19"/>
          <p:cNvSpPr txBox="1"/>
          <p:nvPr/>
        </p:nvSpPr>
        <p:spPr>
          <a:xfrm>
            <a:off x="1224838" y="7730384"/>
            <a:ext cx="4571372" cy="34925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Bộ 3 loại LED màu 5mm thông dụng</a:t>
            </a:r>
          </a:p>
        </p:txBody>
      </p:sp>
      <p:sp>
        <p:nvSpPr>
          <p:cNvPr id="20" name="TextBox 20"/>
          <p:cNvSpPr txBox="1"/>
          <p:nvPr/>
        </p:nvSpPr>
        <p:spPr>
          <a:xfrm>
            <a:off x="6855142" y="7730384"/>
            <a:ext cx="4571372" cy="34925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Còi Buzzer 5VDC</a:t>
            </a:r>
          </a:p>
        </p:txBody>
      </p:sp>
      <p:sp>
        <p:nvSpPr>
          <p:cNvPr id="21" name="TextBox 21"/>
          <p:cNvSpPr txBox="1"/>
          <p:nvPr/>
        </p:nvSpPr>
        <p:spPr>
          <a:xfrm>
            <a:off x="12485447" y="7730384"/>
            <a:ext cx="4672613" cy="34925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Module Cảm Biến Siêu Âm HC-SR04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2" name="Group 12"/>
          <p:cNvGrpSpPr/>
          <p:nvPr/>
        </p:nvGrpSpPr>
        <p:grpSpPr>
          <a:xfrm>
            <a:off x="1224838" y="2977688"/>
            <a:ext cx="4571372" cy="4571372"/>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35901" t="-77822" r="-33918"/>
              </a:stretch>
            </a:blipFill>
          </p:spPr>
          <p:txBody>
            <a:bodyPr/>
            <a:lstStyle/>
            <a:p>
              <a:endParaRPr lang="en-US"/>
            </a:p>
          </p:txBody>
        </p:sp>
      </p:grpSp>
      <p:grpSp>
        <p:nvGrpSpPr>
          <p:cNvPr id="14" name="Group 14"/>
          <p:cNvGrpSpPr/>
          <p:nvPr/>
        </p:nvGrpSpPr>
        <p:grpSpPr>
          <a:xfrm>
            <a:off x="6905763" y="2857814"/>
            <a:ext cx="4571372" cy="4571372"/>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a:stretch>
            </a:blipFill>
          </p:spPr>
          <p:txBody>
            <a:bodyPr/>
            <a:lstStyle/>
            <a:p>
              <a:endParaRPr lang="en-US"/>
            </a:p>
          </p:txBody>
        </p:sp>
      </p:grpSp>
      <p:grpSp>
        <p:nvGrpSpPr>
          <p:cNvPr id="16" name="Group 16"/>
          <p:cNvGrpSpPr/>
          <p:nvPr/>
        </p:nvGrpSpPr>
        <p:grpSpPr>
          <a:xfrm>
            <a:off x="12586687" y="2977688"/>
            <a:ext cx="4571372" cy="4571372"/>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l="-8909" r="-8909"/>
              </a:stretch>
            </a:blipFill>
          </p:spPr>
          <p:txBody>
            <a:bodyPr/>
            <a:lstStyle/>
            <a:p>
              <a:endParaRPr lang="en-US"/>
            </a:p>
          </p:txBody>
        </p:sp>
      </p:grpSp>
      <p:sp>
        <p:nvSpPr>
          <p:cNvPr id="18" name="TextBox 18"/>
          <p:cNvSpPr txBox="1"/>
          <p:nvPr/>
        </p:nvSpPr>
        <p:spPr>
          <a:xfrm>
            <a:off x="1465393"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Danh sách các thiết bị</a:t>
            </a:r>
          </a:p>
        </p:txBody>
      </p:sp>
      <p:sp>
        <p:nvSpPr>
          <p:cNvPr id="19" name="TextBox 19"/>
          <p:cNvSpPr txBox="1"/>
          <p:nvPr/>
        </p:nvSpPr>
        <p:spPr>
          <a:xfrm>
            <a:off x="1224838" y="7730384"/>
            <a:ext cx="4571372" cy="34925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Cảm biến chuyển động PIR HC SR501</a:t>
            </a:r>
          </a:p>
        </p:txBody>
      </p:sp>
      <p:sp>
        <p:nvSpPr>
          <p:cNvPr id="20" name="TextBox 20"/>
          <p:cNvSpPr txBox="1"/>
          <p:nvPr/>
        </p:nvSpPr>
        <p:spPr>
          <a:xfrm>
            <a:off x="6855142" y="7730384"/>
            <a:ext cx="4571372"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Module Cảm Biến Độ Ẩm, Nhiệt Độ DHT11</a:t>
            </a:r>
          </a:p>
        </p:txBody>
      </p:sp>
      <p:sp>
        <p:nvSpPr>
          <p:cNvPr id="21" name="TextBox 21"/>
          <p:cNvSpPr txBox="1"/>
          <p:nvPr/>
        </p:nvSpPr>
        <p:spPr>
          <a:xfrm>
            <a:off x="12485447" y="7730384"/>
            <a:ext cx="4672613"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Breadboard MB-102 830 lỗ 165x55x10mm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2" name="Group 12"/>
          <p:cNvGrpSpPr/>
          <p:nvPr/>
        </p:nvGrpSpPr>
        <p:grpSpPr>
          <a:xfrm>
            <a:off x="1224838" y="2977688"/>
            <a:ext cx="4571372" cy="4571372"/>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t="-1687" b="-1687"/>
              </a:stretch>
            </a:blipFill>
          </p:spPr>
          <p:txBody>
            <a:bodyPr/>
            <a:lstStyle/>
            <a:p>
              <a:endParaRPr lang="en-US"/>
            </a:p>
          </p:txBody>
        </p:sp>
      </p:grpSp>
      <p:grpSp>
        <p:nvGrpSpPr>
          <p:cNvPr id="14" name="Group 14"/>
          <p:cNvGrpSpPr/>
          <p:nvPr/>
        </p:nvGrpSpPr>
        <p:grpSpPr>
          <a:xfrm>
            <a:off x="6905763" y="2857814"/>
            <a:ext cx="4571372" cy="4571372"/>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9672" r="-9672"/>
              </a:stretch>
            </a:blipFill>
          </p:spPr>
          <p:txBody>
            <a:bodyPr/>
            <a:lstStyle/>
            <a:p>
              <a:endParaRPr lang="en-US"/>
            </a:p>
          </p:txBody>
        </p:sp>
      </p:grpSp>
      <p:grpSp>
        <p:nvGrpSpPr>
          <p:cNvPr id="16" name="Group 16"/>
          <p:cNvGrpSpPr/>
          <p:nvPr/>
        </p:nvGrpSpPr>
        <p:grpSpPr>
          <a:xfrm>
            <a:off x="12586687" y="2977688"/>
            <a:ext cx="4571372" cy="4571372"/>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a:stretch>
            </a:blipFill>
          </p:spPr>
          <p:txBody>
            <a:bodyPr/>
            <a:lstStyle/>
            <a:p>
              <a:endParaRPr lang="en-US"/>
            </a:p>
          </p:txBody>
        </p:sp>
      </p:grpSp>
      <p:sp>
        <p:nvSpPr>
          <p:cNvPr id="18" name="TextBox 18"/>
          <p:cNvSpPr txBox="1"/>
          <p:nvPr/>
        </p:nvSpPr>
        <p:spPr>
          <a:xfrm>
            <a:off x="1465393"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Danh sách các thiết bị</a:t>
            </a:r>
          </a:p>
        </p:txBody>
      </p:sp>
      <p:sp>
        <p:nvSpPr>
          <p:cNvPr id="19" name="TextBox 19"/>
          <p:cNvSpPr txBox="1"/>
          <p:nvPr/>
        </p:nvSpPr>
        <p:spPr>
          <a:xfrm>
            <a:off x="1224838" y="7730384"/>
            <a:ext cx="4571372" cy="701675"/>
          </a:xfrm>
          <a:prstGeom prst="rect">
            <a:avLst/>
          </a:prstGeom>
        </p:spPr>
        <p:txBody>
          <a:bodyPr lIns="0" tIns="0" rIns="0" bIns="0" rtlCol="0" anchor="t">
            <a:spAutoFit/>
          </a:bodyPr>
          <a:lstStyle/>
          <a:p>
            <a:pPr algn="ctr">
              <a:lnSpc>
                <a:spcPts val="2800"/>
              </a:lnSpc>
            </a:pPr>
            <a:r>
              <a:rPr lang="en-US" sz="2000">
                <a:solidFill>
                  <a:srgbClr val="000000"/>
                </a:solidFill>
                <a:latin typeface="Muli"/>
                <a:ea typeface="Muli"/>
                <a:cs typeface="Muli"/>
                <a:sym typeface="Muli"/>
              </a:rPr>
              <a:t>Điện trở 1/4W 1% 1M-10M</a:t>
            </a:r>
          </a:p>
          <a:p>
            <a:pPr algn="ctr">
              <a:lnSpc>
                <a:spcPts val="2800"/>
              </a:lnSpc>
              <a:spcBef>
                <a:spcPct val="0"/>
              </a:spcBef>
            </a:pPr>
            <a:endParaRPr lang="en-US" sz="2000">
              <a:solidFill>
                <a:srgbClr val="000000"/>
              </a:solidFill>
              <a:latin typeface="Muli"/>
              <a:ea typeface="Muli"/>
              <a:cs typeface="Muli"/>
              <a:sym typeface="Muli"/>
            </a:endParaRPr>
          </a:p>
        </p:txBody>
      </p:sp>
      <p:sp>
        <p:nvSpPr>
          <p:cNvPr id="20" name="TextBox 20"/>
          <p:cNvSpPr txBox="1"/>
          <p:nvPr/>
        </p:nvSpPr>
        <p:spPr>
          <a:xfrm>
            <a:off x="6855142" y="7730384"/>
            <a:ext cx="4571372" cy="1054100"/>
          </a:xfrm>
          <a:prstGeom prst="rect">
            <a:avLst/>
          </a:prstGeom>
        </p:spPr>
        <p:txBody>
          <a:bodyPr lIns="0" tIns="0" rIns="0" bIns="0" rtlCol="0" anchor="t">
            <a:spAutoFit/>
          </a:bodyPr>
          <a:lstStyle/>
          <a:p>
            <a:pPr algn="ctr">
              <a:lnSpc>
                <a:spcPts val="2800"/>
              </a:lnSpc>
            </a:pPr>
            <a:r>
              <a:rPr lang="en-US" sz="2000">
                <a:solidFill>
                  <a:srgbClr val="000000"/>
                </a:solidFill>
                <a:latin typeface="Muli"/>
                <a:ea typeface="Muli"/>
                <a:cs typeface="Muli"/>
                <a:sym typeface="Muli"/>
              </a:rPr>
              <a:t>Cuộn Nhựa In 3D PLA 1.75mm 1KG Màu Xanh Lá</a:t>
            </a:r>
          </a:p>
          <a:p>
            <a:pPr algn="ctr">
              <a:lnSpc>
                <a:spcPts val="2800"/>
              </a:lnSpc>
              <a:spcBef>
                <a:spcPct val="0"/>
              </a:spcBef>
            </a:pPr>
            <a:endParaRPr lang="en-US" sz="2000">
              <a:solidFill>
                <a:srgbClr val="000000"/>
              </a:solidFill>
              <a:latin typeface="Muli"/>
              <a:ea typeface="Muli"/>
              <a:cs typeface="Muli"/>
              <a:sym typeface="Muli"/>
            </a:endParaRPr>
          </a:p>
        </p:txBody>
      </p:sp>
      <p:sp>
        <p:nvSpPr>
          <p:cNvPr id="21" name="TextBox 21"/>
          <p:cNvSpPr txBox="1"/>
          <p:nvPr/>
        </p:nvSpPr>
        <p:spPr>
          <a:xfrm>
            <a:off x="12485447" y="7730384"/>
            <a:ext cx="4672613" cy="701675"/>
          </a:xfrm>
          <a:prstGeom prst="rect">
            <a:avLst/>
          </a:prstGeom>
        </p:spPr>
        <p:txBody>
          <a:bodyPr lIns="0" tIns="0" rIns="0" bIns="0" rtlCol="0" anchor="t">
            <a:spAutoFit/>
          </a:bodyPr>
          <a:lstStyle/>
          <a:p>
            <a:pPr algn="ctr">
              <a:lnSpc>
                <a:spcPts val="2800"/>
              </a:lnSpc>
            </a:pPr>
            <a:r>
              <a:rPr lang="en-US" sz="2000">
                <a:solidFill>
                  <a:srgbClr val="000000"/>
                </a:solidFill>
                <a:latin typeface="Muli"/>
                <a:ea typeface="Muli"/>
                <a:cs typeface="Muli"/>
                <a:sym typeface="Muli"/>
              </a:rPr>
              <a:t>Động Cơ Micro Servo SG90</a:t>
            </a:r>
          </a:p>
          <a:p>
            <a:pPr algn="ctr">
              <a:lnSpc>
                <a:spcPts val="2800"/>
              </a:lnSpc>
              <a:spcBef>
                <a:spcPct val="0"/>
              </a:spcBef>
            </a:pPr>
            <a:endParaRPr lang="en-US" sz="2000">
              <a:solidFill>
                <a:srgbClr val="000000"/>
              </a:solidFill>
              <a:latin typeface="Muli"/>
              <a:ea typeface="Muli"/>
              <a:cs typeface="Muli"/>
              <a:sym typeface="Mul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586687" y="-1289385"/>
            <a:ext cx="2977778" cy="257877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3463708" y="-3108651"/>
            <a:ext cx="4201515" cy="3638531"/>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5855428" y="-893016"/>
            <a:ext cx="3286119" cy="284579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41684" y="8601247"/>
            <a:ext cx="2977778" cy="2578770"/>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0" name="Group 10"/>
          <p:cNvGrpSpPr/>
          <p:nvPr/>
        </p:nvGrpSpPr>
        <p:grpSpPr>
          <a:xfrm>
            <a:off x="887982" y="9102279"/>
            <a:ext cx="1820667" cy="1576706"/>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2" name="Group 12"/>
          <p:cNvGrpSpPr/>
          <p:nvPr/>
        </p:nvGrpSpPr>
        <p:grpSpPr>
          <a:xfrm>
            <a:off x="6348793" y="2827718"/>
            <a:ext cx="5590415" cy="5590415"/>
            <a:chOff x="0" y="0"/>
            <a:chExt cx="812800" cy="812800"/>
          </a:xfrm>
        </p:grpSpPr>
        <p:sp>
          <p:nvSpPr>
            <p:cNvPr id="13" name="Freeform 1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t="-4495" b="-4495"/>
              </a:stretch>
            </a:blipFill>
          </p:spPr>
          <p:txBody>
            <a:bodyPr/>
            <a:lstStyle/>
            <a:p>
              <a:endParaRPr lang="en-US"/>
            </a:p>
          </p:txBody>
        </p:sp>
      </p:grpSp>
      <p:sp>
        <p:nvSpPr>
          <p:cNvPr id="14" name="TextBox 14"/>
          <p:cNvSpPr txBox="1"/>
          <p:nvPr/>
        </p:nvSpPr>
        <p:spPr>
          <a:xfrm>
            <a:off x="1465393" y="1038225"/>
            <a:ext cx="11557987" cy="1276350"/>
          </a:xfrm>
          <a:prstGeom prst="rect">
            <a:avLst/>
          </a:prstGeom>
        </p:spPr>
        <p:txBody>
          <a:bodyPr lIns="0" tIns="0" rIns="0" bIns="0" rtlCol="0" anchor="t">
            <a:spAutoFit/>
          </a:bodyPr>
          <a:lstStyle/>
          <a:p>
            <a:pPr algn="l">
              <a:lnSpc>
                <a:spcPts val="10199"/>
              </a:lnSpc>
              <a:spcBef>
                <a:spcPct val="0"/>
              </a:spcBef>
            </a:pPr>
            <a:r>
              <a:rPr lang="en-US" sz="8499" b="1" spc="-84">
                <a:solidFill>
                  <a:srgbClr val="000000"/>
                </a:solidFill>
                <a:latin typeface="Muli Bold"/>
                <a:ea typeface="Muli Bold"/>
                <a:cs typeface="Muli Bold"/>
                <a:sym typeface="Muli Bold"/>
              </a:rPr>
              <a:t>Danh sách các thiết bị</a:t>
            </a:r>
          </a:p>
        </p:txBody>
      </p:sp>
      <p:sp>
        <p:nvSpPr>
          <p:cNvPr id="15" name="TextBox 15"/>
          <p:cNvSpPr txBox="1"/>
          <p:nvPr/>
        </p:nvSpPr>
        <p:spPr>
          <a:xfrm>
            <a:off x="6858314" y="8883650"/>
            <a:ext cx="4571372" cy="7016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Muli"/>
                <a:ea typeface="Muli"/>
                <a:cs typeface="Muli"/>
                <a:sym typeface="Muli"/>
              </a:rPr>
              <a:t>Module Relay 1 Kênh 5V 12V kích 2 mức thấp cao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778677" y="4201140"/>
            <a:ext cx="7027514" cy="608586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9755446" y="-4237988"/>
            <a:ext cx="7027514" cy="6085860"/>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6" name="Group 6"/>
          <p:cNvGrpSpPr/>
          <p:nvPr/>
        </p:nvGrpSpPr>
        <p:grpSpPr>
          <a:xfrm>
            <a:off x="14778677" y="-533331"/>
            <a:ext cx="4961246" cy="4296462"/>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8" name="Group 8"/>
          <p:cNvGrpSpPr/>
          <p:nvPr/>
        </p:nvGrpSpPr>
        <p:grpSpPr>
          <a:xfrm>
            <a:off x="1028700" y="1028700"/>
            <a:ext cx="4212844" cy="586200"/>
            <a:chOff x="0" y="0"/>
            <a:chExt cx="5617125" cy="781600"/>
          </a:xfrm>
        </p:grpSpPr>
        <p:sp>
          <p:nvSpPr>
            <p:cNvPr id="9" name="TextBox 9"/>
            <p:cNvSpPr txBox="1"/>
            <p:nvPr/>
          </p:nvSpPr>
          <p:spPr>
            <a:xfrm>
              <a:off x="1293956" y="104415"/>
              <a:ext cx="4323169" cy="525145"/>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Muli Bold"/>
                  <a:ea typeface="Muli Bold"/>
                  <a:cs typeface="Muli Bold"/>
                  <a:sym typeface="Muli Bold"/>
                </a:rPr>
                <a:t>Nhóm 6</a:t>
              </a:r>
            </a:p>
          </p:txBody>
        </p:sp>
        <p:sp>
          <p:nvSpPr>
            <p:cNvPr id="10" name="Freeform 10"/>
            <p:cNvSpPr/>
            <p:nvPr/>
          </p:nvSpPr>
          <p:spPr>
            <a:xfrm>
              <a:off x="0" y="0"/>
              <a:ext cx="905010" cy="781600"/>
            </a:xfrm>
            <a:custGeom>
              <a:avLst/>
              <a:gdLst/>
              <a:ahLst/>
              <a:cxnLst/>
              <a:rect l="l" t="t" r="r" b="b"/>
              <a:pathLst>
                <a:path w="905010" h="781600">
                  <a:moveTo>
                    <a:pt x="0" y="0"/>
                  </a:moveTo>
                  <a:lnTo>
                    <a:pt x="905010" y="0"/>
                  </a:lnTo>
                  <a:lnTo>
                    <a:pt x="905010" y="781600"/>
                  </a:lnTo>
                  <a:lnTo>
                    <a:pt x="0" y="781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11" name="Group 11"/>
          <p:cNvGrpSpPr/>
          <p:nvPr/>
        </p:nvGrpSpPr>
        <p:grpSpPr>
          <a:xfrm>
            <a:off x="10231786" y="8439128"/>
            <a:ext cx="7027514" cy="6085860"/>
            <a:chOff x="0" y="0"/>
            <a:chExt cx="3619627" cy="3134614"/>
          </a:xfrm>
        </p:grpSpPr>
        <p:sp>
          <p:nvSpPr>
            <p:cNvPr id="12" name="Freeform 12"/>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3" name="Group 13"/>
          <p:cNvGrpSpPr/>
          <p:nvPr/>
        </p:nvGrpSpPr>
        <p:grpSpPr>
          <a:xfrm>
            <a:off x="12443390" y="1847872"/>
            <a:ext cx="7611108" cy="6591255"/>
            <a:chOff x="0" y="0"/>
            <a:chExt cx="3619627" cy="3134614"/>
          </a:xfrm>
        </p:grpSpPr>
        <p:sp>
          <p:nvSpPr>
            <p:cNvPr id="14" name="Freeform 1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5" name="Group 15"/>
          <p:cNvGrpSpPr>
            <a:grpSpLocks noChangeAspect="1"/>
          </p:cNvGrpSpPr>
          <p:nvPr/>
        </p:nvGrpSpPr>
        <p:grpSpPr>
          <a:xfrm>
            <a:off x="10676454" y="1847872"/>
            <a:ext cx="7611546" cy="6591255"/>
            <a:chOff x="0" y="0"/>
            <a:chExt cx="4282440" cy="3708400"/>
          </a:xfrm>
        </p:grpSpPr>
        <p:sp>
          <p:nvSpPr>
            <p:cNvPr id="16" name="Freeform 16"/>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15002" r="-23550"/>
              </a:stretch>
            </a:blipFill>
          </p:spPr>
          <p:txBody>
            <a:bodyPr/>
            <a:lstStyle/>
            <a:p>
              <a:endParaRPr lang="en-US"/>
            </a:p>
          </p:txBody>
        </p:sp>
      </p:grpSp>
      <p:sp>
        <p:nvSpPr>
          <p:cNvPr id="17" name="TextBox 17"/>
          <p:cNvSpPr txBox="1"/>
          <p:nvPr/>
        </p:nvSpPr>
        <p:spPr>
          <a:xfrm>
            <a:off x="2034251" y="4405312"/>
            <a:ext cx="7109749" cy="1476375"/>
          </a:xfrm>
          <a:prstGeom prst="rect">
            <a:avLst/>
          </a:prstGeom>
        </p:spPr>
        <p:txBody>
          <a:bodyPr lIns="0" tIns="0" rIns="0" bIns="0" rtlCol="0" anchor="t">
            <a:spAutoFit/>
          </a:bodyPr>
          <a:lstStyle/>
          <a:p>
            <a:pPr algn="l">
              <a:lnSpc>
                <a:spcPts val="11639"/>
              </a:lnSpc>
              <a:spcBef>
                <a:spcPct val="0"/>
              </a:spcBef>
            </a:pPr>
            <a:r>
              <a:rPr lang="en-US" sz="9699" b="1" spc="-96">
                <a:solidFill>
                  <a:srgbClr val="000000"/>
                </a:solidFill>
                <a:latin typeface="Muli Bold"/>
                <a:ea typeface="Muli Bold"/>
                <a:cs typeface="Muli Bold"/>
                <a:sym typeface="Muli Bold"/>
              </a:rPr>
              <a:t>CÔNG VIỆC</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33310" y="1733550"/>
          <a:ext cx="16421380" cy="6819902"/>
        </p:xfrm>
        <a:graphic>
          <a:graphicData uri="http://schemas.openxmlformats.org/drawingml/2006/table">
            <a:tbl>
              <a:tblPr/>
              <a:tblGrid>
                <a:gridCol w="8210690">
                  <a:extLst>
                    <a:ext uri="{9D8B030D-6E8A-4147-A177-3AD203B41FA5}">
                      <a16:colId xmlns:a16="http://schemas.microsoft.com/office/drawing/2014/main" val="20000"/>
                    </a:ext>
                  </a:extLst>
                </a:gridCol>
                <a:gridCol w="8210690">
                  <a:extLst>
                    <a:ext uri="{9D8B030D-6E8A-4147-A177-3AD203B41FA5}">
                      <a16:colId xmlns:a16="http://schemas.microsoft.com/office/drawing/2014/main" val="20001"/>
                    </a:ext>
                  </a:extLst>
                </a:gridCol>
              </a:tblGrid>
              <a:tr h="985343">
                <a:tc>
                  <a:txBody>
                    <a:bodyPr/>
                    <a:lstStyle/>
                    <a:p>
                      <a:pPr algn="ctr">
                        <a:lnSpc>
                          <a:spcPts val="3080"/>
                        </a:lnSpc>
                        <a:defRPr/>
                      </a:pPr>
                      <a:r>
                        <a:rPr lang="en-US" sz="2200">
                          <a:solidFill>
                            <a:srgbClr val="FFF4E3"/>
                          </a:solidFill>
                          <a:latin typeface="Muli"/>
                          <a:ea typeface="Muli"/>
                          <a:cs typeface="Muli"/>
                          <a:sym typeface="Muli"/>
                        </a:rPr>
                        <a:t>Nghiên cứu yêu cầu dự án </a:t>
                      </a:r>
                      <a:r>
                        <a:rPr lang="en-US" sz="2200" b="1">
                          <a:solidFill>
                            <a:srgbClr val="FFF4E3"/>
                          </a:solidFill>
                          <a:latin typeface="Muli Bold"/>
                          <a:ea typeface="Muli Bold"/>
                          <a:cs typeface="Muli Bold"/>
                          <a:sym typeface="Muli Bold"/>
                        </a:rPr>
                        <a:t>(Hoài Nam)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tc>
                  <a:txBody>
                    <a:bodyPr/>
                    <a:lstStyle/>
                    <a:p>
                      <a:pPr algn="ctr">
                        <a:lnSpc>
                          <a:spcPts val="3080"/>
                        </a:lnSpc>
                        <a:defRPr/>
                      </a:pPr>
                      <a:r>
                        <a:rPr lang="en-US" sz="2200">
                          <a:solidFill>
                            <a:srgbClr val="455C34"/>
                          </a:solidFill>
                          <a:latin typeface="Muli"/>
                          <a:ea typeface="Muli"/>
                          <a:cs typeface="Muli"/>
                          <a:sym typeface="Muli"/>
                        </a:rPr>
                        <a:t>Viết báo cáo Proposal và làm Slide PPT </a:t>
                      </a:r>
                      <a:r>
                        <a:rPr lang="en-US" sz="2200" b="1">
                          <a:solidFill>
                            <a:srgbClr val="455C34"/>
                          </a:solidFill>
                          <a:latin typeface="Muli Bold"/>
                          <a:ea typeface="Muli Bold"/>
                          <a:cs typeface="Muli Bold"/>
                          <a:sym typeface="Muli Bold"/>
                        </a:rPr>
                        <a:t>(Hoài Nam)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extLst>
                  <a:ext uri="{0D108BD9-81ED-4DB2-BD59-A6C34878D82A}">
                    <a16:rowId xmlns:a16="http://schemas.microsoft.com/office/drawing/2014/main" val="10000"/>
                  </a:ext>
                </a:extLst>
              </a:tr>
              <a:tr h="985343">
                <a:tc>
                  <a:txBody>
                    <a:bodyPr/>
                    <a:lstStyle/>
                    <a:p>
                      <a:pPr algn="ctr">
                        <a:lnSpc>
                          <a:spcPts val="3080"/>
                        </a:lnSpc>
                        <a:defRPr/>
                      </a:pPr>
                      <a:r>
                        <a:rPr lang="en-US" sz="2200">
                          <a:solidFill>
                            <a:srgbClr val="455C34"/>
                          </a:solidFill>
                          <a:latin typeface="Muli"/>
                          <a:ea typeface="Muli"/>
                          <a:cs typeface="Muli"/>
                          <a:sym typeface="Muli"/>
                        </a:rPr>
                        <a:t>Thiết kế sơ đồ mạch điện (cơ bản) </a:t>
                      </a:r>
                      <a:r>
                        <a:rPr lang="en-US" sz="2200" b="1">
                          <a:solidFill>
                            <a:srgbClr val="455C34"/>
                          </a:solidFill>
                          <a:latin typeface="Muli Bold"/>
                          <a:ea typeface="Muli Bold"/>
                          <a:cs typeface="Muli Bold"/>
                          <a:sym typeface="Muli Bold"/>
                        </a:rPr>
                        <a:t>(Quốc Tín)</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tc>
                  <a:txBody>
                    <a:bodyPr/>
                    <a:lstStyle/>
                    <a:p>
                      <a:pPr algn="ctr">
                        <a:lnSpc>
                          <a:spcPts val="3080"/>
                        </a:lnSpc>
                        <a:defRPr/>
                      </a:pPr>
                      <a:r>
                        <a:rPr lang="en-US" sz="2200">
                          <a:solidFill>
                            <a:srgbClr val="FFF4E3"/>
                          </a:solidFill>
                          <a:latin typeface="Muli"/>
                          <a:ea typeface="Muli"/>
                          <a:cs typeface="Muli"/>
                          <a:sym typeface="Muli"/>
                        </a:rPr>
                        <a:t>Thiết kế sản phẩm 3D bằng Autoddesk </a:t>
                      </a:r>
                      <a:r>
                        <a:rPr lang="en-US" sz="2200" b="1">
                          <a:solidFill>
                            <a:srgbClr val="FFF4E3"/>
                          </a:solidFill>
                          <a:latin typeface="Muli Bold"/>
                          <a:ea typeface="Muli Bold"/>
                          <a:cs typeface="Muli Bold"/>
                          <a:sym typeface="Muli Bold"/>
                        </a:rPr>
                        <a:t>(Quốc Tín)</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extLst>
                  <a:ext uri="{0D108BD9-81ED-4DB2-BD59-A6C34878D82A}">
                    <a16:rowId xmlns:a16="http://schemas.microsoft.com/office/drawing/2014/main" val="10001"/>
                  </a:ext>
                </a:extLst>
              </a:tr>
              <a:tr h="1439265">
                <a:tc>
                  <a:txBody>
                    <a:bodyPr/>
                    <a:lstStyle/>
                    <a:p>
                      <a:pPr algn="ctr">
                        <a:lnSpc>
                          <a:spcPts val="3080"/>
                        </a:lnSpc>
                        <a:defRPr/>
                      </a:pPr>
                      <a:r>
                        <a:rPr lang="en-US" sz="2200">
                          <a:solidFill>
                            <a:srgbClr val="FFF4E3"/>
                          </a:solidFill>
                          <a:latin typeface="Muli"/>
                          <a:ea typeface="Muli"/>
                          <a:cs typeface="Muli"/>
                          <a:sym typeface="Muli"/>
                        </a:rPr>
                        <a:t>Thiết kế sơ đồ khối (trực quan hoá) </a:t>
                      </a:r>
                      <a:r>
                        <a:rPr lang="en-US" sz="2200" b="1">
                          <a:solidFill>
                            <a:srgbClr val="FFF4E3"/>
                          </a:solidFill>
                          <a:latin typeface="Muli Bold"/>
                          <a:ea typeface="Muli Bold"/>
                          <a:cs typeface="Muli Bold"/>
                          <a:sym typeface="Muli Bold"/>
                        </a:rPr>
                        <a:t>(Liên Hoa)</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tc>
                  <a:txBody>
                    <a:bodyPr/>
                    <a:lstStyle/>
                    <a:p>
                      <a:pPr algn="ctr">
                        <a:lnSpc>
                          <a:spcPts val="3080"/>
                        </a:lnSpc>
                        <a:defRPr/>
                      </a:pPr>
                      <a:r>
                        <a:rPr lang="en-US" sz="2200">
                          <a:solidFill>
                            <a:srgbClr val="455C34"/>
                          </a:solidFill>
                          <a:latin typeface="Muli"/>
                          <a:ea typeface="Muli"/>
                          <a:cs typeface="Muli"/>
                          <a:sym typeface="Muli"/>
                        </a:rPr>
                        <a:t>Thiết kế giao diện đăng xuất, đăng nhập, tạo tài khoản bằng Node-RED, Dashboard, các nút bấm </a:t>
                      </a:r>
                      <a:r>
                        <a:rPr lang="en-US" sz="2200" b="1">
                          <a:solidFill>
                            <a:srgbClr val="455C34"/>
                          </a:solidFill>
                          <a:latin typeface="Muli Bold"/>
                          <a:ea typeface="Muli Bold"/>
                          <a:cs typeface="Muli Bold"/>
                          <a:sym typeface="Muli Bold"/>
                        </a:rPr>
                        <a:t>(Liên Hoa)</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extLst>
                  <a:ext uri="{0D108BD9-81ED-4DB2-BD59-A6C34878D82A}">
                    <a16:rowId xmlns:a16="http://schemas.microsoft.com/office/drawing/2014/main" val="10002"/>
                  </a:ext>
                </a:extLst>
              </a:tr>
              <a:tr h="1439265">
                <a:tc>
                  <a:txBody>
                    <a:bodyPr/>
                    <a:lstStyle/>
                    <a:p>
                      <a:pPr algn="ctr">
                        <a:lnSpc>
                          <a:spcPts val="3080"/>
                        </a:lnSpc>
                        <a:defRPr/>
                      </a:pPr>
                      <a:r>
                        <a:rPr lang="en-US" sz="2200">
                          <a:solidFill>
                            <a:srgbClr val="455C34"/>
                          </a:solidFill>
                          <a:latin typeface="Muli"/>
                          <a:ea typeface="Muli"/>
                          <a:cs typeface="Muli"/>
                          <a:sym typeface="Muli"/>
                        </a:rPr>
                        <a:t>Lên danh sách, tìm nhà cung cấp, đặt mua và xác nhận</a:t>
                      </a:r>
                      <a:endParaRPr lang="en-US" sz="1100"/>
                    </a:p>
                    <a:p>
                      <a:pPr algn="ctr">
                        <a:lnSpc>
                          <a:spcPts val="3080"/>
                        </a:lnSpc>
                      </a:pPr>
                      <a:r>
                        <a:rPr lang="en-US" sz="2200">
                          <a:solidFill>
                            <a:srgbClr val="455C34"/>
                          </a:solidFill>
                          <a:latin typeface="Muli"/>
                          <a:ea typeface="Muli"/>
                          <a:cs typeface="Muli"/>
                          <a:sym typeface="Muli"/>
                        </a:rPr>
                        <a:t>thiết bị </a:t>
                      </a:r>
                      <a:r>
                        <a:rPr lang="en-US" sz="2200" b="1">
                          <a:solidFill>
                            <a:srgbClr val="455C34"/>
                          </a:solidFill>
                          <a:latin typeface="Muli Bold"/>
                          <a:ea typeface="Muli Bold"/>
                          <a:cs typeface="Muli Bold"/>
                          <a:sym typeface="Muli Bold"/>
                        </a:rPr>
                        <a:t>(Liên Hoa, Hoài Nam, Quốc Tín)</a:t>
                      </a:r>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tc>
                  <a:txBody>
                    <a:bodyPr/>
                    <a:lstStyle/>
                    <a:p>
                      <a:pPr algn="ctr">
                        <a:lnSpc>
                          <a:spcPts val="3080"/>
                        </a:lnSpc>
                        <a:defRPr/>
                      </a:pPr>
                      <a:r>
                        <a:rPr lang="en-US" sz="2200">
                          <a:solidFill>
                            <a:srgbClr val="FFF4E3"/>
                          </a:solidFill>
                          <a:latin typeface="Muli"/>
                          <a:ea typeface="Muli"/>
                          <a:cs typeface="Muli"/>
                          <a:sym typeface="Muli"/>
                        </a:rPr>
                        <a:t>Lắp ráp mạch theo thiết kế </a:t>
                      </a:r>
                      <a:r>
                        <a:rPr lang="en-US" sz="2200" b="1">
                          <a:solidFill>
                            <a:srgbClr val="FFF4E3"/>
                          </a:solidFill>
                          <a:latin typeface="Muli Bold"/>
                          <a:ea typeface="Muli Bold"/>
                          <a:cs typeface="Muli Bold"/>
                          <a:sym typeface="Muli Bold"/>
                        </a:rPr>
                        <a:t>(Hoài Nam)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extLst>
                  <a:ext uri="{0D108BD9-81ED-4DB2-BD59-A6C34878D82A}">
                    <a16:rowId xmlns:a16="http://schemas.microsoft.com/office/drawing/2014/main" val="10003"/>
                  </a:ext>
                </a:extLst>
              </a:tr>
              <a:tr h="985343">
                <a:tc>
                  <a:txBody>
                    <a:bodyPr/>
                    <a:lstStyle/>
                    <a:p>
                      <a:pPr algn="ctr">
                        <a:lnSpc>
                          <a:spcPts val="3080"/>
                        </a:lnSpc>
                        <a:defRPr/>
                      </a:pPr>
                      <a:r>
                        <a:rPr lang="en-US" sz="2200">
                          <a:solidFill>
                            <a:srgbClr val="FFF4E3"/>
                          </a:solidFill>
                          <a:latin typeface="Muli"/>
                          <a:ea typeface="Muli"/>
                          <a:cs typeface="Muli"/>
                          <a:sym typeface="Muli"/>
                        </a:rPr>
                        <a:t>Chuẩn bị hồ cây cho thí nghiệm </a:t>
                      </a:r>
                      <a:r>
                        <a:rPr lang="en-US" sz="2200" b="1">
                          <a:solidFill>
                            <a:srgbClr val="FFF4E3"/>
                          </a:solidFill>
                          <a:latin typeface="Muli Bold"/>
                          <a:ea typeface="Muli Bold"/>
                          <a:cs typeface="Muli Bold"/>
                          <a:sym typeface="Muli Bold"/>
                        </a:rPr>
                        <a:t>(Quốc Tín)</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tc>
                  <a:txBody>
                    <a:bodyPr/>
                    <a:lstStyle/>
                    <a:p>
                      <a:pPr algn="ctr">
                        <a:lnSpc>
                          <a:spcPts val="3079"/>
                        </a:lnSpc>
                        <a:defRPr/>
                      </a:pPr>
                      <a:r>
                        <a:rPr lang="en-US" sz="2199">
                          <a:solidFill>
                            <a:srgbClr val="000000"/>
                          </a:solidFill>
                          <a:latin typeface="Muli"/>
                          <a:ea typeface="Muli"/>
                          <a:cs typeface="Muli"/>
                          <a:sym typeface="Muli"/>
                        </a:rPr>
                        <a:t>Tiến hành lắp ráp mạch lên hồ cây và xô nước </a:t>
                      </a:r>
                      <a:r>
                        <a:rPr lang="en-US" sz="2199" b="1">
                          <a:solidFill>
                            <a:srgbClr val="000000"/>
                          </a:solidFill>
                          <a:latin typeface="Muli Bold"/>
                          <a:ea typeface="Muli Bold"/>
                          <a:cs typeface="Muli Bold"/>
                          <a:sym typeface="Muli Bold"/>
                        </a:rPr>
                        <a:t>(Liên Hoa)</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extLst>
                  <a:ext uri="{0D108BD9-81ED-4DB2-BD59-A6C34878D82A}">
                    <a16:rowId xmlns:a16="http://schemas.microsoft.com/office/drawing/2014/main" val="10004"/>
                  </a:ext>
                </a:extLst>
              </a:tr>
              <a:tr h="985343">
                <a:tc>
                  <a:txBody>
                    <a:bodyPr/>
                    <a:lstStyle/>
                    <a:p>
                      <a:pPr algn="ctr">
                        <a:lnSpc>
                          <a:spcPts val="3080"/>
                        </a:lnSpc>
                        <a:defRPr/>
                      </a:pPr>
                      <a:r>
                        <a:rPr lang="en-US" sz="2200">
                          <a:solidFill>
                            <a:srgbClr val="455C34"/>
                          </a:solidFill>
                          <a:latin typeface="Muli"/>
                          <a:ea typeface="Muli"/>
                          <a:cs typeface="Muli"/>
                          <a:sym typeface="Muli"/>
                        </a:rPr>
                        <a:t>Kiểm lỗi của sản phầm toàn diện </a:t>
                      </a:r>
                      <a:r>
                        <a:rPr lang="en-US" sz="2200" b="1">
                          <a:solidFill>
                            <a:srgbClr val="455C34"/>
                          </a:solidFill>
                          <a:latin typeface="Muli Bold"/>
                          <a:ea typeface="Muli Bold"/>
                          <a:cs typeface="Muli Bold"/>
                          <a:sym typeface="Muli Bold"/>
                        </a:rPr>
                        <a:t>(Liên Hoa)</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4E3"/>
                    </a:solidFill>
                  </a:tcPr>
                </a:tc>
                <a:tc>
                  <a:txBody>
                    <a:bodyPr/>
                    <a:lstStyle/>
                    <a:p>
                      <a:pPr algn="ctr">
                        <a:lnSpc>
                          <a:spcPts val="3080"/>
                        </a:lnSpc>
                        <a:defRPr/>
                      </a:pPr>
                      <a:r>
                        <a:rPr lang="en-US" sz="2200">
                          <a:solidFill>
                            <a:srgbClr val="FFF4E3"/>
                          </a:solidFill>
                          <a:latin typeface="Muli"/>
                          <a:ea typeface="Muli"/>
                          <a:cs typeface="Muli"/>
                          <a:sym typeface="Muli"/>
                        </a:rPr>
                        <a:t>Viết báo cáo tổng kết cho sản phẩm </a:t>
                      </a:r>
                      <a:r>
                        <a:rPr lang="en-US" sz="2200" b="1">
                          <a:solidFill>
                            <a:srgbClr val="FFF4E3"/>
                          </a:solidFill>
                          <a:latin typeface="Muli Bold"/>
                          <a:ea typeface="Muli Bold"/>
                          <a:cs typeface="Muli Bold"/>
                          <a:sym typeface="Muli Bold"/>
                        </a:rPr>
                        <a:t>(Hoài Nam)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5F7E4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778677" y="4201140"/>
            <a:ext cx="7027514" cy="608586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9755446" y="-4237988"/>
            <a:ext cx="7027514" cy="6085860"/>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6" name="Group 6"/>
          <p:cNvGrpSpPr/>
          <p:nvPr/>
        </p:nvGrpSpPr>
        <p:grpSpPr>
          <a:xfrm>
            <a:off x="14778677" y="-533331"/>
            <a:ext cx="4961246" cy="4296462"/>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8" name="Group 8"/>
          <p:cNvGrpSpPr/>
          <p:nvPr/>
        </p:nvGrpSpPr>
        <p:grpSpPr>
          <a:xfrm>
            <a:off x="1028700" y="1028700"/>
            <a:ext cx="4212844" cy="586200"/>
            <a:chOff x="0" y="0"/>
            <a:chExt cx="5617125" cy="781600"/>
          </a:xfrm>
        </p:grpSpPr>
        <p:sp>
          <p:nvSpPr>
            <p:cNvPr id="9" name="TextBox 9"/>
            <p:cNvSpPr txBox="1"/>
            <p:nvPr/>
          </p:nvSpPr>
          <p:spPr>
            <a:xfrm>
              <a:off x="1293956" y="104415"/>
              <a:ext cx="4323169" cy="525145"/>
            </a:xfrm>
            <a:prstGeom prst="rect">
              <a:avLst/>
            </a:prstGeom>
          </p:spPr>
          <p:txBody>
            <a:bodyPr lIns="0" tIns="0" rIns="0" bIns="0" rtlCol="0" anchor="t">
              <a:spAutoFit/>
            </a:bodyPr>
            <a:lstStyle/>
            <a:p>
              <a:pPr algn="l">
                <a:lnSpc>
                  <a:spcPts val="3359"/>
                </a:lnSpc>
                <a:spcBef>
                  <a:spcPct val="0"/>
                </a:spcBef>
              </a:pPr>
              <a:r>
                <a:rPr lang="en-US" sz="2400" b="1">
                  <a:solidFill>
                    <a:srgbClr val="000000"/>
                  </a:solidFill>
                  <a:latin typeface="Muli Bold"/>
                  <a:ea typeface="Muli Bold"/>
                  <a:cs typeface="Muli Bold"/>
                  <a:sym typeface="Muli Bold"/>
                </a:rPr>
                <a:t>Nhóm 6</a:t>
              </a:r>
            </a:p>
          </p:txBody>
        </p:sp>
        <p:sp>
          <p:nvSpPr>
            <p:cNvPr id="10" name="Freeform 10"/>
            <p:cNvSpPr/>
            <p:nvPr/>
          </p:nvSpPr>
          <p:spPr>
            <a:xfrm>
              <a:off x="0" y="0"/>
              <a:ext cx="905010" cy="781600"/>
            </a:xfrm>
            <a:custGeom>
              <a:avLst/>
              <a:gdLst/>
              <a:ahLst/>
              <a:cxnLst/>
              <a:rect l="l" t="t" r="r" b="b"/>
              <a:pathLst>
                <a:path w="905010" h="781600">
                  <a:moveTo>
                    <a:pt x="0" y="0"/>
                  </a:moveTo>
                  <a:lnTo>
                    <a:pt x="905010" y="0"/>
                  </a:lnTo>
                  <a:lnTo>
                    <a:pt x="905010" y="781600"/>
                  </a:lnTo>
                  <a:lnTo>
                    <a:pt x="0" y="781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11" name="Group 11"/>
          <p:cNvGrpSpPr/>
          <p:nvPr/>
        </p:nvGrpSpPr>
        <p:grpSpPr>
          <a:xfrm>
            <a:off x="10231786" y="8439128"/>
            <a:ext cx="7027514" cy="6085860"/>
            <a:chOff x="0" y="0"/>
            <a:chExt cx="3619627" cy="3134614"/>
          </a:xfrm>
        </p:grpSpPr>
        <p:sp>
          <p:nvSpPr>
            <p:cNvPr id="12" name="Freeform 12"/>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3" name="Group 13"/>
          <p:cNvGrpSpPr/>
          <p:nvPr/>
        </p:nvGrpSpPr>
        <p:grpSpPr>
          <a:xfrm>
            <a:off x="12443390" y="1847872"/>
            <a:ext cx="7611108" cy="6591255"/>
            <a:chOff x="0" y="0"/>
            <a:chExt cx="3619627" cy="3134614"/>
          </a:xfrm>
        </p:grpSpPr>
        <p:sp>
          <p:nvSpPr>
            <p:cNvPr id="14" name="Freeform 1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15" name="Group 15"/>
          <p:cNvGrpSpPr>
            <a:grpSpLocks noChangeAspect="1"/>
          </p:cNvGrpSpPr>
          <p:nvPr/>
        </p:nvGrpSpPr>
        <p:grpSpPr>
          <a:xfrm>
            <a:off x="10680888" y="1847872"/>
            <a:ext cx="7611546" cy="6591255"/>
            <a:chOff x="0" y="0"/>
            <a:chExt cx="4282440" cy="3708400"/>
          </a:xfrm>
        </p:grpSpPr>
        <p:sp>
          <p:nvSpPr>
            <p:cNvPr id="16" name="Freeform 16"/>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14865" r="-14865"/>
              </a:stretch>
            </a:blipFill>
          </p:spPr>
          <p:txBody>
            <a:bodyPr/>
            <a:lstStyle/>
            <a:p>
              <a:endParaRPr lang="en-US"/>
            </a:p>
          </p:txBody>
        </p:sp>
      </p:grpSp>
      <p:sp>
        <p:nvSpPr>
          <p:cNvPr id="17" name="TextBox 17"/>
          <p:cNvSpPr txBox="1"/>
          <p:nvPr/>
        </p:nvSpPr>
        <p:spPr>
          <a:xfrm>
            <a:off x="2034251" y="4405312"/>
            <a:ext cx="7109749" cy="1476375"/>
          </a:xfrm>
          <a:prstGeom prst="rect">
            <a:avLst/>
          </a:prstGeom>
        </p:spPr>
        <p:txBody>
          <a:bodyPr lIns="0" tIns="0" rIns="0" bIns="0" rtlCol="0" anchor="t">
            <a:spAutoFit/>
          </a:bodyPr>
          <a:lstStyle/>
          <a:p>
            <a:pPr algn="l">
              <a:lnSpc>
                <a:spcPts val="11639"/>
              </a:lnSpc>
              <a:spcBef>
                <a:spcPct val="0"/>
              </a:spcBef>
            </a:pPr>
            <a:r>
              <a:rPr lang="en-US" sz="9699" b="1" spc="-96">
                <a:solidFill>
                  <a:srgbClr val="000000"/>
                </a:solidFill>
                <a:latin typeface="Muli Bold"/>
                <a:ea typeface="Muli Bold"/>
                <a:cs typeface="Muli Bold"/>
                <a:sym typeface="Muli Bold"/>
              </a:rPr>
              <a:t>KẾ HOẠCH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0" y="3330537"/>
            <a:ext cx="14271514" cy="0"/>
          </a:xfrm>
          <a:prstGeom prst="line">
            <a:avLst/>
          </a:prstGeom>
          <a:ln w="38100" cap="rnd">
            <a:solidFill>
              <a:srgbClr val="004651"/>
            </a:solidFill>
            <a:prstDash val="solid"/>
            <a:headEnd type="none" w="sm" len="sm"/>
            <a:tailEnd type="none" w="sm" len="sm"/>
          </a:ln>
        </p:spPr>
        <p:txBody>
          <a:bodyPr/>
          <a:lstStyle/>
          <a:p>
            <a:endParaRPr lang="en-US"/>
          </a:p>
        </p:txBody>
      </p:sp>
      <p:grpSp>
        <p:nvGrpSpPr>
          <p:cNvPr id="3" name="Group 3"/>
          <p:cNvGrpSpPr/>
          <p:nvPr/>
        </p:nvGrpSpPr>
        <p:grpSpPr>
          <a:xfrm>
            <a:off x="1028741" y="3165908"/>
            <a:ext cx="380203" cy="329258"/>
            <a:chOff x="0" y="0"/>
            <a:chExt cx="3619627" cy="3134614"/>
          </a:xfrm>
        </p:grpSpPr>
        <p:sp>
          <p:nvSpPr>
            <p:cNvPr id="4" name="Freeform 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5" name="Group 5"/>
          <p:cNvGrpSpPr/>
          <p:nvPr/>
        </p:nvGrpSpPr>
        <p:grpSpPr>
          <a:xfrm>
            <a:off x="5314194" y="3165908"/>
            <a:ext cx="380203" cy="329258"/>
            <a:chOff x="0" y="0"/>
            <a:chExt cx="3619627" cy="3134614"/>
          </a:xfrm>
        </p:grpSpPr>
        <p:sp>
          <p:nvSpPr>
            <p:cNvPr id="6" name="Freeform 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7" name="Group 7"/>
          <p:cNvGrpSpPr/>
          <p:nvPr/>
        </p:nvGrpSpPr>
        <p:grpSpPr>
          <a:xfrm>
            <a:off x="9602753" y="3184958"/>
            <a:ext cx="380203" cy="329258"/>
            <a:chOff x="0" y="0"/>
            <a:chExt cx="3619627" cy="3134614"/>
          </a:xfrm>
        </p:grpSpPr>
        <p:sp>
          <p:nvSpPr>
            <p:cNvPr id="8" name="Freeform 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9" name="Group 9"/>
          <p:cNvGrpSpPr/>
          <p:nvPr/>
        </p:nvGrpSpPr>
        <p:grpSpPr>
          <a:xfrm>
            <a:off x="1028741" y="7024267"/>
            <a:ext cx="380203" cy="329258"/>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1" name="Group 11"/>
          <p:cNvGrpSpPr/>
          <p:nvPr/>
        </p:nvGrpSpPr>
        <p:grpSpPr>
          <a:xfrm>
            <a:off x="5153985" y="7005773"/>
            <a:ext cx="380203" cy="329258"/>
            <a:chOff x="0" y="0"/>
            <a:chExt cx="3619627" cy="3134614"/>
          </a:xfrm>
        </p:grpSpPr>
        <p:sp>
          <p:nvSpPr>
            <p:cNvPr id="12" name="Freeform 12"/>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13" name="Group 13"/>
          <p:cNvGrpSpPr/>
          <p:nvPr/>
        </p:nvGrpSpPr>
        <p:grpSpPr>
          <a:xfrm>
            <a:off x="9442544" y="7005773"/>
            <a:ext cx="380203" cy="329258"/>
            <a:chOff x="0" y="0"/>
            <a:chExt cx="3619627" cy="3134614"/>
          </a:xfrm>
        </p:grpSpPr>
        <p:sp>
          <p:nvSpPr>
            <p:cNvPr id="14" name="Freeform 1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sp>
        <p:nvSpPr>
          <p:cNvPr id="15" name="AutoShape 15"/>
          <p:cNvSpPr/>
          <p:nvPr/>
        </p:nvSpPr>
        <p:spPr>
          <a:xfrm flipV="1">
            <a:off x="0" y="7121203"/>
            <a:ext cx="14271512" cy="49199"/>
          </a:xfrm>
          <a:prstGeom prst="line">
            <a:avLst/>
          </a:prstGeom>
          <a:ln w="38100" cap="rnd">
            <a:solidFill>
              <a:srgbClr val="004651"/>
            </a:solidFill>
            <a:prstDash val="solid"/>
            <a:headEnd type="none" w="sm" len="sm"/>
            <a:tailEnd type="none" w="sm" len="sm"/>
          </a:ln>
        </p:spPr>
        <p:txBody>
          <a:bodyPr/>
          <a:lstStyle/>
          <a:p>
            <a:endParaRPr lang="en-US"/>
          </a:p>
        </p:txBody>
      </p:sp>
      <p:grpSp>
        <p:nvGrpSpPr>
          <p:cNvPr id="16" name="Group 16"/>
          <p:cNvGrpSpPr/>
          <p:nvPr/>
        </p:nvGrpSpPr>
        <p:grpSpPr>
          <a:xfrm>
            <a:off x="1028741" y="4052984"/>
            <a:ext cx="2805722" cy="1246994"/>
            <a:chOff x="0" y="0"/>
            <a:chExt cx="3740963" cy="1662659"/>
          </a:xfrm>
        </p:grpSpPr>
        <p:sp>
          <p:nvSpPr>
            <p:cNvPr id="17" name="TextBox 17"/>
            <p:cNvSpPr txBox="1"/>
            <p:nvPr/>
          </p:nvSpPr>
          <p:spPr>
            <a:xfrm>
              <a:off x="0" y="0"/>
              <a:ext cx="3740963" cy="603598"/>
            </a:xfrm>
            <a:prstGeom prst="rect">
              <a:avLst/>
            </a:prstGeom>
          </p:spPr>
          <p:txBody>
            <a:bodyPr lIns="0" tIns="0" rIns="0" bIns="0" rtlCol="0" anchor="t">
              <a:spAutoFit/>
            </a:bodyPr>
            <a:lstStyle/>
            <a:p>
              <a:pPr marL="0" lvl="0" indent="0" algn="l">
                <a:lnSpc>
                  <a:spcPts val="3602"/>
                </a:lnSpc>
                <a:spcBef>
                  <a:spcPct val="0"/>
                </a:spcBef>
              </a:pPr>
              <a:r>
                <a:rPr lang="en-US" sz="3001" b="1">
                  <a:solidFill>
                    <a:srgbClr val="00A181"/>
                  </a:solidFill>
                  <a:latin typeface="Muli Bold"/>
                  <a:ea typeface="Muli Bold"/>
                  <a:cs typeface="Muli Bold"/>
                  <a:sym typeface="Muli Bold"/>
                </a:rPr>
                <a:t>Tuần 1</a:t>
              </a:r>
            </a:p>
          </p:txBody>
        </p:sp>
        <p:sp>
          <p:nvSpPr>
            <p:cNvPr id="18" name="TextBox 18"/>
            <p:cNvSpPr txBox="1"/>
            <p:nvPr/>
          </p:nvSpPr>
          <p:spPr>
            <a:xfrm>
              <a:off x="0" y="906943"/>
              <a:ext cx="3740963" cy="755717"/>
            </a:xfrm>
            <a:prstGeom prst="rect">
              <a:avLst/>
            </a:prstGeom>
          </p:spPr>
          <p:txBody>
            <a:bodyPr lIns="0" tIns="0" rIns="0" bIns="0" rtlCol="0" anchor="t">
              <a:spAutoFit/>
            </a:bodyPr>
            <a:lstStyle/>
            <a:p>
              <a:pPr marL="0" lvl="0" indent="0" algn="l">
                <a:lnSpc>
                  <a:spcPts val="2334"/>
                </a:lnSpc>
                <a:spcBef>
                  <a:spcPct val="0"/>
                </a:spcBef>
              </a:pPr>
              <a:r>
                <a:rPr lang="en-US" sz="1667">
                  <a:solidFill>
                    <a:srgbClr val="000000"/>
                  </a:solidFill>
                  <a:latin typeface="Muli"/>
                  <a:ea typeface="Muli"/>
                  <a:cs typeface="Muli"/>
                  <a:sym typeface="Muli"/>
                </a:rPr>
                <a:t>Phân tích yêu cầu và thiết kế sơ bộ</a:t>
              </a:r>
            </a:p>
          </p:txBody>
        </p:sp>
      </p:grpSp>
      <p:grpSp>
        <p:nvGrpSpPr>
          <p:cNvPr id="19" name="Group 19"/>
          <p:cNvGrpSpPr/>
          <p:nvPr/>
        </p:nvGrpSpPr>
        <p:grpSpPr>
          <a:xfrm>
            <a:off x="5314194" y="4052984"/>
            <a:ext cx="2805722" cy="953137"/>
            <a:chOff x="0" y="0"/>
            <a:chExt cx="3740963" cy="1270850"/>
          </a:xfrm>
        </p:grpSpPr>
        <p:sp>
          <p:nvSpPr>
            <p:cNvPr id="20" name="TextBox 20"/>
            <p:cNvSpPr txBox="1"/>
            <p:nvPr/>
          </p:nvSpPr>
          <p:spPr>
            <a:xfrm>
              <a:off x="0" y="0"/>
              <a:ext cx="3740963" cy="603598"/>
            </a:xfrm>
            <a:prstGeom prst="rect">
              <a:avLst/>
            </a:prstGeom>
          </p:spPr>
          <p:txBody>
            <a:bodyPr lIns="0" tIns="0" rIns="0" bIns="0" rtlCol="0" anchor="t">
              <a:spAutoFit/>
            </a:bodyPr>
            <a:lstStyle/>
            <a:p>
              <a:pPr marL="0" lvl="0" indent="0" algn="l">
                <a:lnSpc>
                  <a:spcPts val="3602"/>
                </a:lnSpc>
                <a:spcBef>
                  <a:spcPct val="0"/>
                </a:spcBef>
              </a:pPr>
              <a:r>
                <a:rPr lang="en-US" sz="3001" b="1">
                  <a:solidFill>
                    <a:srgbClr val="00A181"/>
                  </a:solidFill>
                  <a:latin typeface="Muli Bold"/>
                  <a:ea typeface="Muli Bold"/>
                  <a:cs typeface="Muli Bold"/>
                  <a:sym typeface="Muli Bold"/>
                </a:rPr>
                <a:t>Tuần 2</a:t>
              </a:r>
            </a:p>
          </p:txBody>
        </p:sp>
        <p:sp>
          <p:nvSpPr>
            <p:cNvPr id="21" name="TextBox 21"/>
            <p:cNvSpPr txBox="1"/>
            <p:nvPr/>
          </p:nvSpPr>
          <p:spPr>
            <a:xfrm>
              <a:off x="0" y="906943"/>
              <a:ext cx="3740963" cy="363907"/>
            </a:xfrm>
            <a:prstGeom prst="rect">
              <a:avLst/>
            </a:prstGeom>
          </p:spPr>
          <p:txBody>
            <a:bodyPr lIns="0" tIns="0" rIns="0" bIns="0" rtlCol="0" anchor="t">
              <a:spAutoFit/>
            </a:bodyPr>
            <a:lstStyle/>
            <a:p>
              <a:pPr marL="0" lvl="0" indent="0" algn="l">
                <a:lnSpc>
                  <a:spcPts val="2334"/>
                </a:lnSpc>
                <a:spcBef>
                  <a:spcPct val="0"/>
                </a:spcBef>
              </a:pPr>
              <a:r>
                <a:rPr lang="en-US" sz="1667">
                  <a:solidFill>
                    <a:srgbClr val="000000"/>
                  </a:solidFill>
                  <a:latin typeface="Muli"/>
                  <a:ea typeface="Muli"/>
                  <a:cs typeface="Muli"/>
                  <a:sym typeface="Muli"/>
                </a:rPr>
                <a:t>Chuẩn bị và mua thiết bị</a:t>
              </a:r>
            </a:p>
          </p:txBody>
        </p:sp>
      </p:grpSp>
      <p:grpSp>
        <p:nvGrpSpPr>
          <p:cNvPr id="22" name="Group 22"/>
          <p:cNvGrpSpPr/>
          <p:nvPr/>
        </p:nvGrpSpPr>
        <p:grpSpPr>
          <a:xfrm>
            <a:off x="9596291" y="4052984"/>
            <a:ext cx="2805722" cy="1246994"/>
            <a:chOff x="0" y="0"/>
            <a:chExt cx="3740963" cy="1662659"/>
          </a:xfrm>
        </p:grpSpPr>
        <p:sp>
          <p:nvSpPr>
            <p:cNvPr id="23" name="TextBox 23"/>
            <p:cNvSpPr txBox="1"/>
            <p:nvPr/>
          </p:nvSpPr>
          <p:spPr>
            <a:xfrm>
              <a:off x="0" y="0"/>
              <a:ext cx="3740963" cy="603598"/>
            </a:xfrm>
            <a:prstGeom prst="rect">
              <a:avLst/>
            </a:prstGeom>
          </p:spPr>
          <p:txBody>
            <a:bodyPr lIns="0" tIns="0" rIns="0" bIns="0" rtlCol="0" anchor="t">
              <a:spAutoFit/>
            </a:bodyPr>
            <a:lstStyle/>
            <a:p>
              <a:pPr marL="0" lvl="0" indent="0" algn="l">
                <a:lnSpc>
                  <a:spcPts val="3602"/>
                </a:lnSpc>
                <a:spcBef>
                  <a:spcPct val="0"/>
                </a:spcBef>
              </a:pPr>
              <a:r>
                <a:rPr lang="en-US" sz="3001" b="1">
                  <a:solidFill>
                    <a:srgbClr val="00A181"/>
                  </a:solidFill>
                  <a:latin typeface="Muli Bold"/>
                  <a:ea typeface="Muli Bold"/>
                  <a:cs typeface="Muli Bold"/>
                  <a:sym typeface="Muli Bold"/>
                </a:rPr>
                <a:t>Tuần 3</a:t>
              </a:r>
            </a:p>
          </p:txBody>
        </p:sp>
        <p:sp>
          <p:nvSpPr>
            <p:cNvPr id="24" name="TextBox 24"/>
            <p:cNvSpPr txBox="1"/>
            <p:nvPr/>
          </p:nvSpPr>
          <p:spPr>
            <a:xfrm>
              <a:off x="0" y="906943"/>
              <a:ext cx="3740963" cy="755717"/>
            </a:xfrm>
            <a:prstGeom prst="rect">
              <a:avLst/>
            </a:prstGeom>
          </p:spPr>
          <p:txBody>
            <a:bodyPr lIns="0" tIns="0" rIns="0" bIns="0" rtlCol="0" anchor="t">
              <a:spAutoFit/>
            </a:bodyPr>
            <a:lstStyle/>
            <a:p>
              <a:pPr marL="0" lvl="0" indent="0" algn="l">
                <a:lnSpc>
                  <a:spcPts val="2334"/>
                </a:lnSpc>
                <a:spcBef>
                  <a:spcPct val="0"/>
                </a:spcBef>
              </a:pPr>
              <a:r>
                <a:rPr lang="en-US" sz="1667">
                  <a:solidFill>
                    <a:srgbClr val="000000"/>
                  </a:solidFill>
                  <a:latin typeface="Muli"/>
                  <a:ea typeface="Muli"/>
                  <a:cs typeface="Muli"/>
                  <a:sym typeface="Muli"/>
                </a:rPr>
                <a:t>Thiết kế giao diện web và sản phẩm 3D</a:t>
              </a:r>
            </a:p>
          </p:txBody>
        </p:sp>
      </p:grpSp>
      <p:grpSp>
        <p:nvGrpSpPr>
          <p:cNvPr id="25" name="Group 25"/>
          <p:cNvGrpSpPr/>
          <p:nvPr/>
        </p:nvGrpSpPr>
        <p:grpSpPr>
          <a:xfrm>
            <a:off x="1028700" y="7915500"/>
            <a:ext cx="2805722" cy="1246994"/>
            <a:chOff x="0" y="0"/>
            <a:chExt cx="3740963" cy="1662659"/>
          </a:xfrm>
        </p:grpSpPr>
        <p:sp>
          <p:nvSpPr>
            <p:cNvPr id="26" name="TextBox 26"/>
            <p:cNvSpPr txBox="1"/>
            <p:nvPr/>
          </p:nvSpPr>
          <p:spPr>
            <a:xfrm>
              <a:off x="0" y="0"/>
              <a:ext cx="3740963" cy="603598"/>
            </a:xfrm>
            <a:prstGeom prst="rect">
              <a:avLst/>
            </a:prstGeom>
          </p:spPr>
          <p:txBody>
            <a:bodyPr lIns="0" tIns="0" rIns="0" bIns="0" rtlCol="0" anchor="t">
              <a:spAutoFit/>
            </a:bodyPr>
            <a:lstStyle/>
            <a:p>
              <a:pPr marL="0" lvl="0" indent="0" algn="l">
                <a:lnSpc>
                  <a:spcPts val="3602"/>
                </a:lnSpc>
                <a:spcBef>
                  <a:spcPct val="0"/>
                </a:spcBef>
              </a:pPr>
              <a:r>
                <a:rPr lang="en-US" sz="3001" b="1">
                  <a:solidFill>
                    <a:srgbClr val="00A181"/>
                  </a:solidFill>
                  <a:latin typeface="Muli Bold"/>
                  <a:ea typeface="Muli Bold"/>
                  <a:cs typeface="Muli Bold"/>
                  <a:sym typeface="Muli Bold"/>
                </a:rPr>
                <a:t>Tuần 7</a:t>
              </a:r>
            </a:p>
          </p:txBody>
        </p:sp>
        <p:sp>
          <p:nvSpPr>
            <p:cNvPr id="27" name="TextBox 27"/>
            <p:cNvSpPr txBox="1"/>
            <p:nvPr/>
          </p:nvSpPr>
          <p:spPr>
            <a:xfrm>
              <a:off x="0" y="906943"/>
              <a:ext cx="3740963" cy="755717"/>
            </a:xfrm>
            <a:prstGeom prst="rect">
              <a:avLst/>
            </a:prstGeom>
          </p:spPr>
          <p:txBody>
            <a:bodyPr lIns="0" tIns="0" rIns="0" bIns="0" rtlCol="0" anchor="t">
              <a:spAutoFit/>
            </a:bodyPr>
            <a:lstStyle/>
            <a:p>
              <a:pPr marL="0" lvl="0" indent="0" algn="l">
                <a:lnSpc>
                  <a:spcPts val="2334"/>
                </a:lnSpc>
                <a:spcBef>
                  <a:spcPct val="0"/>
                </a:spcBef>
              </a:pPr>
              <a:r>
                <a:rPr lang="en-US" sz="1667">
                  <a:solidFill>
                    <a:srgbClr val="000000"/>
                  </a:solidFill>
                  <a:latin typeface="Muli"/>
                  <a:ea typeface="Muli"/>
                  <a:cs typeface="Muli"/>
                  <a:sym typeface="Muli"/>
                </a:rPr>
                <a:t>Chuẩn bị thuyết trình và demo sản phẩm</a:t>
              </a:r>
            </a:p>
          </p:txBody>
        </p:sp>
      </p:grpSp>
      <p:sp>
        <p:nvSpPr>
          <p:cNvPr id="28" name="AutoShape 28"/>
          <p:cNvSpPr/>
          <p:nvPr/>
        </p:nvSpPr>
        <p:spPr>
          <a:xfrm flipH="1">
            <a:off x="14271514" y="3349600"/>
            <a:ext cx="0" cy="3820800"/>
          </a:xfrm>
          <a:prstGeom prst="line">
            <a:avLst/>
          </a:prstGeom>
          <a:ln w="38100" cap="rnd">
            <a:solidFill>
              <a:srgbClr val="004651"/>
            </a:solidFill>
            <a:prstDash val="solid"/>
            <a:headEnd type="none" w="sm" len="sm"/>
            <a:tailEnd type="none" w="sm" len="sm"/>
          </a:ln>
        </p:spPr>
        <p:txBody>
          <a:bodyPr/>
          <a:lstStyle/>
          <a:p>
            <a:endParaRPr lang="en-US"/>
          </a:p>
        </p:txBody>
      </p:sp>
      <p:grpSp>
        <p:nvGrpSpPr>
          <p:cNvPr id="29" name="Group 29"/>
          <p:cNvGrpSpPr/>
          <p:nvPr/>
        </p:nvGrpSpPr>
        <p:grpSpPr>
          <a:xfrm>
            <a:off x="5153985" y="7915500"/>
            <a:ext cx="2805722" cy="1246994"/>
            <a:chOff x="0" y="0"/>
            <a:chExt cx="3740963" cy="1662659"/>
          </a:xfrm>
        </p:grpSpPr>
        <p:sp>
          <p:nvSpPr>
            <p:cNvPr id="30" name="TextBox 30"/>
            <p:cNvSpPr txBox="1"/>
            <p:nvPr/>
          </p:nvSpPr>
          <p:spPr>
            <a:xfrm>
              <a:off x="0" y="0"/>
              <a:ext cx="3740963" cy="603598"/>
            </a:xfrm>
            <a:prstGeom prst="rect">
              <a:avLst/>
            </a:prstGeom>
          </p:spPr>
          <p:txBody>
            <a:bodyPr lIns="0" tIns="0" rIns="0" bIns="0" rtlCol="0" anchor="t">
              <a:spAutoFit/>
            </a:bodyPr>
            <a:lstStyle/>
            <a:p>
              <a:pPr marL="0" lvl="0" indent="0" algn="l">
                <a:lnSpc>
                  <a:spcPts val="3602"/>
                </a:lnSpc>
                <a:spcBef>
                  <a:spcPct val="0"/>
                </a:spcBef>
              </a:pPr>
              <a:r>
                <a:rPr lang="en-US" sz="3001" b="1">
                  <a:solidFill>
                    <a:srgbClr val="00A181"/>
                  </a:solidFill>
                  <a:latin typeface="Muli Bold"/>
                  <a:ea typeface="Muli Bold"/>
                  <a:cs typeface="Muli Bold"/>
                  <a:sym typeface="Muli Bold"/>
                </a:rPr>
                <a:t>Tuần 6</a:t>
              </a:r>
            </a:p>
          </p:txBody>
        </p:sp>
        <p:sp>
          <p:nvSpPr>
            <p:cNvPr id="31" name="TextBox 31"/>
            <p:cNvSpPr txBox="1"/>
            <p:nvPr/>
          </p:nvSpPr>
          <p:spPr>
            <a:xfrm>
              <a:off x="0" y="906943"/>
              <a:ext cx="3740963" cy="755717"/>
            </a:xfrm>
            <a:prstGeom prst="rect">
              <a:avLst/>
            </a:prstGeom>
          </p:spPr>
          <p:txBody>
            <a:bodyPr lIns="0" tIns="0" rIns="0" bIns="0" rtlCol="0" anchor="t">
              <a:spAutoFit/>
            </a:bodyPr>
            <a:lstStyle/>
            <a:p>
              <a:pPr marL="0" lvl="0" indent="0" algn="l">
                <a:lnSpc>
                  <a:spcPts val="2334"/>
                </a:lnSpc>
                <a:spcBef>
                  <a:spcPct val="0"/>
                </a:spcBef>
              </a:pPr>
              <a:r>
                <a:rPr lang="en-US" sz="1667">
                  <a:solidFill>
                    <a:srgbClr val="000000"/>
                  </a:solidFill>
                  <a:latin typeface="Muli"/>
                  <a:ea typeface="Muli"/>
                  <a:cs typeface="Muli"/>
                  <a:sym typeface="Muli"/>
                </a:rPr>
                <a:t>Hoàn thiện và báo cáo tổng kết</a:t>
              </a:r>
            </a:p>
          </p:txBody>
        </p:sp>
      </p:grpSp>
      <p:grpSp>
        <p:nvGrpSpPr>
          <p:cNvPr id="32" name="Group 32"/>
          <p:cNvGrpSpPr/>
          <p:nvPr/>
        </p:nvGrpSpPr>
        <p:grpSpPr>
          <a:xfrm>
            <a:off x="9442544" y="8011306"/>
            <a:ext cx="2805722" cy="1246994"/>
            <a:chOff x="0" y="0"/>
            <a:chExt cx="3740963" cy="1662659"/>
          </a:xfrm>
        </p:grpSpPr>
        <p:sp>
          <p:nvSpPr>
            <p:cNvPr id="33" name="TextBox 33"/>
            <p:cNvSpPr txBox="1"/>
            <p:nvPr/>
          </p:nvSpPr>
          <p:spPr>
            <a:xfrm>
              <a:off x="0" y="0"/>
              <a:ext cx="3740963" cy="603598"/>
            </a:xfrm>
            <a:prstGeom prst="rect">
              <a:avLst/>
            </a:prstGeom>
          </p:spPr>
          <p:txBody>
            <a:bodyPr lIns="0" tIns="0" rIns="0" bIns="0" rtlCol="0" anchor="t">
              <a:spAutoFit/>
            </a:bodyPr>
            <a:lstStyle/>
            <a:p>
              <a:pPr marL="0" lvl="0" indent="0" algn="l">
                <a:lnSpc>
                  <a:spcPts val="3602"/>
                </a:lnSpc>
                <a:spcBef>
                  <a:spcPct val="0"/>
                </a:spcBef>
              </a:pPr>
              <a:r>
                <a:rPr lang="en-US" sz="3001" b="1">
                  <a:solidFill>
                    <a:srgbClr val="00A181"/>
                  </a:solidFill>
                  <a:latin typeface="Muli Bold"/>
                  <a:ea typeface="Muli Bold"/>
                  <a:cs typeface="Muli Bold"/>
                  <a:sym typeface="Muli Bold"/>
                </a:rPr>
                <a:t>Tuần 4 - 5</a:t>
              </a:r>
            </a:p>
          </p:txBody>
        </p:sp>
        <p:sp>
          <p:nvSpPr>
            <p:cNvPr id="34" name="TextBox 34"/>
            <p:cNvSpPr txBox="1"/>
            <p:nvPr/>
          </p:nvSpPr>
          <p:spPr>
            <a:xfrm>
              <a:off x="0" y="906943"/>
              <a:ext cx="3740963" cy="755717"/>
            </a:xfrm>
            <a:prstGeom prst="rect">
              <a:avLst/>
            </a:prstGeom>
          </p:spPr>
          <p:txBody>
            <a:bodyPr lIns="0" tIns="0" rIns="0" bIns="0" rtlCol="0" anchor="t">
              <a:spAutoFit/>
            </a:bodyPr>
            <a:lstStyle/>
            <a:p>
              <a:pPr marL="0" lvl="0" indent="0" algn="l">
                <a:lnSpc>
                  <a:spcPts val="2334"/>
                </a:lnSpc>
                <a:spcBef>
                  <a:spcPct val="0"/>
                </a:spcBef>
              </a:pPr>
              <a:r>
                <a:rPr lang="en-US" sz="1667">
                  <a:solidFill>
                    <a:srgbClr val="000000"/>
                  </a:solidFill>
                  <a:latin typeface="Muli"/>
                  <a:ea typeface="Muli"/>
                  <a:cs typeface="Muli"/>
                  <a:sym typeface="Muli"/>
                </a:rPr>
                <a:t>Lắp ráp, cấu hình và kiểm tra hệ thống</a:t>
              </a:r>
            </a:p>
          </p:txBody>
        </p:sp>
      </p:grpSp>
      <p:grpSp>
        <p:nvGrpSpPr>
          <p:cNvPr id="35" name="Group 35"/>
          <p:cNvGrpSpPr/>
          <p:nvPr/>
        </p:nvGrpSpPr>
        <p:grpSpPr>
          <a:xfrm>
            <a:off x="17205658" y="1561322"/>
            <a:ext cx="2977778" cy="2578770"/>
            <a:chOff x="0" y="0"/>
            <a:chExt cx="3619627" cy="3134614"/>
          </a:xfrm>
        </p:grpSpPr>
        <p:sp>
          <p:nvSpPr>
            <p:cNvPr id="36" name="Freeform 3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37" name="Group 37"/>
          <p:cNvGrpSpPr/>
          <p:nvPr/>
        </p:nvGrpSpPr>
        <p:grpSpPr>
          <a:xfrm>
            <a:off x="14066636" y="-1261822"/>
            <a:ext cx="4201515" cy="3638531"/>
            <a:chOff x="0" y="0"/>
            <a:chExt cx="3619627" cy="3134614"/>
          </a:xfrm>
        </p:grpSpPr>
        <p:sp>
          <p:nvSpPr>
            <p:cNvPr id="38" name="Freeform 3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39" name="Group 39"/>
          <p:cNvGrpSpPr/>
          <p:nvPr/>
        </p:nvGrpSpPr>
        <p:grpSpPr>
          <a:xfrm>
            <a:off x="13650485" y="-2082692"/>
            <a:ext cx="2481390" cy="2148895"/>
            <a:chOff x="0" y="0"/>
            <a:chExt cx="3619627" cy="3134614"/>
          </a:xfrm>
        </p:grpSpPr>
        <p:sp>
          <p:nvSpPr>
            <p:cNvPr id="40" name="Freeform 4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41" name="Group 41"/>
          <p:cNvGrpSpPr/>
          <p:nvPr/>
        </p:nvGrpSpPr>
        <p:grpSpPr>
          <a:xfrm rot="-10800000">
            <a:off x="-1048706" y="-1347651"/>
            <a:ext cx="3480308" cy="3013963"/>
            <a:chOff x="0" y="0"/>
            <a:chExt cx="3619627" cy="3134614"/>
          </a:xfrm>
        </p:grpSpPr>
        <p:sp>
          <p:nvSpPr>
            <p:cNvPr id="42" name="Freeform 42"/>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2" name="TextBox 2"/>
          <p:cNvSpPr txBox="1"/>
          <p:nvPr/>
        </p:nvSpPr>
        <p:spPr>
          <a:xfrm>
            <a:off x="1028700" y="971550"/>
            <a:ext cx="16230600" cy="2327910"/>
          </a:xfrm>
          <a:prstGeom prst="rect">
            <a:avLst/>
          </a:prstGeom>
        </p:spPr>
        <p:txBody>
          <a:bodyPr lIns="0" tIns="0" rIns="0" bIns="0" rtlCol="0" anchor="t">
            <a:spAutoFit/>
          </a:bodyPr>
          <a:lstStyle/>
          <a:p>
            <a:pPr algn="ctr">
              <a:lnSpc>
                <a:spcPts val="9360"/>
              </a:lnSpc>
            </a:pPr>
            <a:r>
              <a:rPr lang="en-US" sz="7200" b="1">
                <a:solidFill>
                  <a:srgbClr val="A4E473"/>
                </a:solidFill>
                <a:latin typeface="Muli Bold"/>
                <a:ea typeface="Muli Bold"/>
                <a:cs typeface="Muli Bold"/>
                <a:sym typeface="Muli Bold"/>
              </a:rPr>
              <a:t>NHÓM 6</a:t>
            </a:r>
          </a:p>
          <a:p>
            <a:pPr algn="ctr">
              <a:lnSpc>
                <a:spcPts val="9360"/>
              </a:lnSpc>
            </a:pPr>
            <a:r>
              <a:rPr lang="en-US" sz="7200" b="1">
                <a:solidFill>
                  <a:srgbClr val="A4E473"/>
                </a:solidFill>
                <a:latin typeface="Muli Bold"/>
                <a:ea typeface="Muli Bold"/>
                <a:cs typeface="Muli Bold"/>
                <a:sym typeface="Muli Bold"/>
              </a:rPr>
              <a:t>CẢM ƠN CÁC BẠN ĐÃ THEO DÕI </a:t>
            </a:r>
          </a:p>
        </p:txBody>
      </p:sp>
      <p:grpSp>
        <p:nvGrpSpPr>
          <p:cNvPr id="3" name="Group 3"/>
          <p:cNvGrpSpPr/>
          <p:nvPr/>
        </p:nvGrpSpPr>
        <p:grpSpPr>
          <a:xfrm>
            <a:off x="-3563094" y="6077994"/>
            <a:ext cx="6383425" cy="5528076"/>
            <a:chOff x="0" y="0"/>
            <a:chExt cx="3619627" cy="3134614"/>
          </a:xfrm>
        </p:grpSpPr>
        <p:sp>
          <p:nvSpPr>
            <p:cNvPr id="4" name="Freeform 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5" name="Group 5"/>
          <p:cNvGrpSpPr/>
          <p:nvPr/>
        </p:nvGrpSpPr>
        <p:grpSpPr>
          <a:xfrm>
            <a:off x="1671665" y="7004492"/>
            <a:ext cx="3034530" cy="2627917"/>
            <a:chOff x="0" y="0"/>
            <a:chExt cx="3619627" cy="3134614"/>
          </a:xfrm>
        </p:grpSpPr>
        <p:sp>
          <p:nvSpPr>
            <p:cNvPr id="6" name="Freeform 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F4F4F4"/>
            </a:solidFill>
          </p:spPr>
          <p:txBody>
            <a:bodyPr/>
            <a:lstStyle/>
            <a:p>
              <a:endParaRPr lang="en-US"/>
            </a:p>
          </p:txBody>
        </p:sp>
      </p:grpSp>
      <p:grpSp>
        <p:nvGrpSpPr>
          <p:cNvPr id="7" name="Group 7"/>
          <p:cNvGrpSpPr/>
          <p:nvPr/>
        </p:nvGrpSpPr>
        <p:grpSpPr>
          <a:xfrm>
            <a:off x="4053492" y="8956750"/>
            <a:ext cx="2141618" cy="1854652"/>
            <a:chOff x="0" y="0"/>
            <a:chExt cx="3619627" cy="3134614"/>
          </a:xfrm>
        </p:grpSpPr>
        <p:sp>
          <p:nvSpPr>
            <p:cNvPr id="8" name="Freeform 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9" name="TextBox 9"/>
          <p:cNvSpPr txBox="1"/>
          <p:nvPr/>
        </p:nvSpPr>
        <p:spPr>
          <a:xfrm>
            <a:off x="9572803" y="6807367"/>
            <a:ext cx="8452487" cy="2034665"/>
          </a:xfrm>
          <a:prstGeom prst="rect">
            <a:avLst/>
          </a:prstGeom>
        </p:spPr>
        <p:txBody>
          <a:bodyPr lIns="0" tIns="0" rIns="0" bIns="0" rtlCol="0" anchor="t">
            <a:spAutoFit/>
          </a:bodyPr>
          <a:lstStyle/>
          <a:p>
            <a:pPr algn="ctr">
              <a:lnSpc>
                <a:spcPts val="5453"/>
              </a:lnSpc>
            </a:pPr>
            <a:r>
              <a:rPr lang="en-US" sz="3895">
                <a:solidFill>
                  <a:srgbClr val="FFFFFF"/>
                </a:solidFill>
                <a:latin typeface="Muli"/>
                <a:ea typeface="Muli"/>
                <a:cs typeface="Muli"/>
                <a:sym typeface="Muli"/>
              </a:rPr>
              <a:t>Trương Hoài Nam - 22127287</a:t>
            </a:r>
          </a:p>
          <a:p>
            <a:pPr algn="ctr">
              <a:lnSpc>
                <a:spcPts val="5453"/>
              </a:lnSpc>
            </a:pPr>
            <a:r>
              <a:rPr lang="en-US" sz="3895">
                <a:solidFill>
                  <a:srgbClr val="FFFFFF"/>
                </a:solidFill>
                <a:latin typeface="Muli"/>
                <a:ea typeface="Muli"/>
                <a:cs typeface="Muli"/>
                <a:sym typeface="Muli"/>
              </a:rPr>
              <a:t>Nguyễn Quốc Tín - 22127416</a:t>
            </a:r>
          </a:p>
          <a:p>
            <a:pPr algn="ctr">
              <a:lnSpc>
                <a:spcPts val="5453"/>
              </a:lnSpc>
              <a:spcBef>
                <a:spcPct val="0"/>
              </a:spcBef>
            </a:pPr>
            <a:r>
              <a:rPr lang="en-US" sz="3895">
                <a:solidFill>
                  <a:srgbClr val="FFFFFF"/>
                </a:solidFill>
                <a:latin typeface="Muli"/>
                <a:ea typeface="Muli"/>
                <a:cs typeface="Muli"/>
                <a:sym typeface="Muli"/>
              </a:rPr>
              <a:t>Lý Liên Hoa - 22127117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TotalTime>
  <Words>1584</Words>
  <Application>Microsoft Office PowerPoint</Application>
  <PresentationFormat>Custom</PresentationFormat>
  <Paragraphs>162</Paragraphs>
  <Slides>34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Noto Sans</vt:lpstr>
      <vt:lpstr>Muli</vt:lpstr>
      <vt:lpstr>Noto Sans Bold</vt:lpstr>
      <vt:lpstr>Calibri</vt:lpstr>
      <vt:lpstr>Muli Bold</vt:lpstr>
      <vt:lpstr>Noto Sans Bold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lá đậm Xanh lá nhạt Trắng Doanh nghiệp Hình học Bản trình bày nội bộ của công ty Bản thuyết trình Kinh doanh</dc:title>
  <cp:lastModifiedBy>LÝ LIÊN HOA</cp:lastModifiedBy>
  <cp:revision>2</cp:revision>
  <dcterms:created xsi:type="dcterms:W3CDTF">2006-08-16T00:00:00Z</dcterms:created>
  <dcterms:modified xsi:type="dcterms:W3CDTF">2024-11-22T16:49:00Z</dcterms:modified>
  <dc:identifier>DAGWPjRgH8E</dc:identifier>
</cp:coreProperties>
</file>